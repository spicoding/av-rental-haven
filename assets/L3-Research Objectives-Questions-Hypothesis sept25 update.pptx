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36"/>
  </p:notesMasterIdLst>
  <p:sldIdLst>
    <p:sldId id="256" r:id="rId2"/>
    <p:sldId id="289" r:id="rId3"/>
    <p:sldId id="301" r:id="rId4"/>
    <p:sldId id="304" r:id="rId5"/>
    <p:sldId id="302" r:id="rId6"/>
    <p:sldId id="303" r:id="rId7"/>
    <p:sldId id="305" r:id="rId8"/>
    <p:sldId id="306" r:id="rId9"/>
    <p:sldId id="308" r:id="rId10"/>
    <p:sldId id="290" r:id="rId11"/>
    <p:sldId id="291" r:id="rId12"/>
    <p:sldId id="261" r:id="rId13"/>
    <p:sldId id="288" r:id="rId14"/>
    <p:sldId id="271" r:id="rId15"/>
    <p:sldId id="299" r:id="rId16"/>
    <p:sldId id="300" r:id="rId17"/>
    <p:sldId id="293" r:id="rId18"/>
    <p:sldId id="287" r:id="rId19"/>
    <p:sldId id="310" r:id="rId20"/>
    <p:sldId id="311" r:id="rId21"/>
    <p:sldId id="312" r:id="rId22"/>
    <p:sldId id="313" r:id="rId23"/>
    <p:sldId id="314" r:id="rId24"/>
    <p:sldId id="262" r:id="rId25"/>
    <p:sldId id="294" r:id="rId26"/>
    <p:sldId id="263" r:id="rId27"/>
    <p:sldId id="270" r:id="rId28"/>
    <p:sldId id="295" r:id="rId29"/>
    <p:sldId id="296" r:id="rId30"/>
    <p:sldId id="309" r:id="rId31"/>
    <p:sldId id="297" r:id="rId32"/>
    <p:sldId id="273" r:id="rId33"/>
    <p:sldId id="298" r:id="rId34"/>
    <p:sldId id="317"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67" d="100"/>
          <a:sy n="67" d="100"/>
        </p:scale>
        <p:origin x="568" y="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3C1D0E-6590-4B8F-9D22-3AC888EC7A84}" type="datetimeFigureOut">
              <a:rPr lang="en-KE" smtClean="0"/>
              <a:t>14/10/2025</a:t>
            </a:fld>
            <a:endParaRPr lang="en-K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2072D0-A8EF-4675-BB4A-24728F7258E8}" type="slidenum">
              <a:rPr lang="en-KE" smtClean="0"/>
              <a:t>‹#›</a:t>
            </a:fld>
            <a:endParaRPr lang="en-KE"/>
          </a:p>
        </p:txBody>
      </p:sp>
    </p:spTree>
    <p:extLst>
      <p:ext uri="{BB962C8B-B14F-4D97-AF65-F5344CB8AC3E}">
        <p14:creationId xmlns:p14="http://schemas.microsoft.com/office/powerpoint/2010/main" val="331714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EB9DA9B-4004-4092-A271-36C0CDFF379B}" type="datetime1">
              <a:rPr lang="en-US" smtClean="0"/>
              <a:t>10/14/2025</a:t>
            </a:fld>
            <a:endParaRPr lang="en-US"/>
          </a:p>
        </p:txBody>
      </p:sp>
      <p:sp>
        <p:nvSpPr>
          <p:cNvPr id="5" name="Footer Placeholder 4"/>
          <p:cNvSpPr>
            <a:spLocks noGrp="1"/>
          </p:cNvSpPr>
          <p:nvPr>
            <p:ph type="ftr" sz="quarter" idx="11"/>
          </p:nvPr>
        </p:nvSpPr>
        <p:spPr/>
        <p:txBody>
          <a:bodyPr/>
          <a:lstStyle/>
          <a:p>
            <a:r>
              <a:rPr lang="en-US"/>
              <a:t>mag 2024</a:t>
            </a:r>
          </a:p>
        </p:txBody>
      </p:sp>
      <p:sp>
        <p:nvSpPr>
          <p:cNvPr id="6" name="Slide Number Placeholder 5"/>
          <p:cNvSpPr>
            <a:spLocks noGrp="1"/>
          </p:cNvSpPr>
          <p:nvPr>
            <p:ph type="sldNum" sz="quarter" idx="12"/>
          </p:nvPr>
        </p:nvSpPr>
        <p:spPr/>
        <p:txBody>
          <a:bodyPr/>
          <a:lstStyle/>
          <a:p>
            <a:fld id="{4BBAE0D1-F310-4316-9DAB-64B7DEF8F935}" type="slidenum">
              <a:rPr lang="en-US" smtClean="0"/>
              <a:t>‹#›</a:t>
            </a:fld>
            <a:endParaRPr lang="en-US"/>
          </a:p>
        </p:txBody>
      </p:sp>
    </p:spTree>
    <p:extLst>
      <p:ext uri="{BB962C8B-B14F-4D97-AF65-F5344CB8AC3E}">
        <p14:creationId xmlns:p14="http://schemas.microsoft.com/office/powerpoint/2010/main" val="347708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8D0BA2-23D8-4889-A5C4-EDD685E9B580}" type="datetime1">
              <a:rPr lang="en-US" smtClean="0"/>
              <a:t>10/14/2025</a:t>
            </a:fld>
            <a:endParaRPr lang="en-US"/>
          </a:p>
        </p:txBody>
      </p:sp>
      <p:sp>
        <p:nvSpPr>
          <p:cNvPr id="5" name="Footer Placeholder 4"/>
          <p:cNvSpPr>
            <a:spLocks noGrp="1"/>
          </p:cNvSpPr>
          <p:nvPr>
            <p:ph type="ftr" sz="quarter" idx="11"/>
          </p:nvPr>
        </p:nvSpPr>
        <p:spPr/>
        <p:txBody>
          <a:bodyPr/>
          <a:lstStyle/>
          <a:p>
            <a:r>
              <a:rPr lang="en-US"/>
              <a:t>mag 2024</a:t>
            </a:r>
          </a:p>
        </p:txBody>
      </p:sp>
      <p:sp>
        <p:nvSpPr>
          <p:cNvPr id="6" name="Slide Number Placeholder 5"/>
          <p:cNvSpPr>
            <a:spLocks noGrp="1"/>
          </p:cNvSpPr>
          <p:nvPr>
            <p:ph type="sldNum" sz="quarter" idx="12"/>
          </p:nvPr>
        </p:nvSpPr>
        <p:spPr/>
        <p:txBody>
          <a:bodyPr/>
          <a:lstStyle/>
          <a:p>
            <a:fld id="{4BBAE0D1-F310-4316-9DAB-64B7DEF8F935}" type="slidenum">
              <a:rPr lang="en-US" smtClean="0"/>
              <a:t>‹#›</a:t>
            </a:fld>
            <a:endParaRPr lang="en-US"/>
          </a:p>
        </p:txBody>
      </p:sp>
    </p:spTree>
    <p:extLst>
      <p:ext uri="{BB962C8B-B14F-4D97-AF65-F5344CB8AC3E}">
        <p14:creationId xmlns:p14="http://schemas.microsoft.com/office/powerpoint/2010/main" val="2772358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78BCB8B-47C9-4F84-A105-9FBCB6F46813}" type="datetime1">
              <a:rPr lang="en-US" smtClean="0"/>
              <a:t>10/14/2025</a:t>
            </a:fld>
            <a:endParaRPr lang="en-US"/>
          </a:p>
        </p:txBody>
      </p:sp>
      <p:sp>
        <p:nvSpPr>
          <p:cNvPr id="5" name="Footer Placeholder 4"/>
          <p:cNvSpPr>
            <a:spLocks noGrp="1"/>
          </p:cNvSpPr>
          <p:nvPr>
            <p:ph type="ftr" sz="quarter" idx="11"/>
          </p:nvPr>
        </p:nvSpPr>
        <p:spPr/>
        <p:txBody>
          <a:bodyPr/>
          <a:lstStyle/>
          <a:p>
            <a:r>
              <a:rPr lang="en-US"/>
              <a:t>mag 2024</a:t>
            </a:r>
          </a:p>
        </p:txBody>
      </p:sp>
      <p:sp>
        <p:nvSpPr>
          <p:cNvPr id="6" name="Slide Number Placeholder 5"/>
          <p:cNvSpPr>
            <a:spLocks noGrp="1"/>
          </p:cNvSpPr>
          <p:nvPr>
            <p:ph type="sldNum" sz="quarter" idx="12"/>
          </p:nvPr>
        </p:nvSpPr>
        <p:spPr/>
        <p:txBody>
          <a:bodyPr/>
          <a:lstStyle/>
          <a:p>
            <a:fld id="{4BBAE0D1-F310-4316-9DAB-64B7DEF8F935}" type="slidenum">
              <a:rPr lang="en-US" smtClean="0"/>
              <a:t>‹#›</a:t>
            </a:fld>
            <a:endParaRPr lang="en-US"/>
          </a:p>
        </p:txBody>
      </p:sp>
    </p:spTree>
    <p:extLst>
      <p:ext uri="{BB962C8B-B14F-4D97-AF65-F5344CB8AC3E}">
        <p14:creationId xmlns:p14="http://schemas.microsoft.com/office/powerpoint/2010/main" val="2766821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D4BECD-C5B8-4F64-A241-3DEB06A044DC}" type="datetime1">
              <a:rPr lang="en-US" smtClean="0"/>
              <a:t>10/14/2025</a:t>
            </a:fld>
            <a:endParaRPr lang="en-US"/>
          </a:p>
        </p:txBody>
      </p:sp>
      <p:sp>
        <p:nvSpPr>
          <p:cNvPr id="6" name="Footer Placeholder 5"/>
          <p:cNvSpPr>
            <a:spLocks noGrp="1"/>
          </p:cNvSpPr>
          <p:nvPr>
            <p:ph type="ftr" sz="quarter" idx="11"/>
          </p:nvPr>
        </p:nvSpPr>
        <p:spPr/>
        <p:txBody>
          <a:bodyPr/>
          <a:lstStyle/>
          <a:p>
            <a:r>
              <a:rPr lang="en-US"/>
              <a:t>mag 2024</a:t>
            </a:r>
          </a:p>
        </p:txBody>
      </p:sp>
      <p:sp>
        <p:nvSpPr>
          <p:cNvPr id="7" name="Slide Number Placeholder 6"/>
          <p:cNvSpPr>
            <a:spLocks noGrp="1"/>
          </p:cNvSpPr>
          <p:nvPr>
            <p:ph type="sldNum" sz="quarter" idx="12"/>
          </p:nvPr>
        </p:nvSpPr>
        <p:spPr/>
        <p:txBody>
          <a:bodyPr/>
          <a:lstStyle/>
          <a:p>
            <a:fld id="{4BBAE0D1-F310-4316-9DAB-64B7DEF8F935}" type="slidenum">
              <a:rPr lang="en-US" smtClean="0"/>
              <a:t>‹#›</a:t>
            </a:fld>
            <a:endParaRPr lang="en-US"/>
          </a:p>
        </p:txBody>
      </p:sp>
    </p:spTree>
    <p:extLst>
      <p:ext uri="{BB962C8B-B14F-4D97-AF65-F5344CB8AC3E}">
        <p14:creationId xmlns:p14="http://schemas.microsoft.com/office/powerpoint/2010/main" val="3185488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FFF902-9800-4407-89F7-C118A1280425}" type="datetime1">
              <a:rPr lang="en-US" smtClean="0"/>
              <a:t>10/14/2025</a:t>
            </a:fld>
            <a:endParaRPr lang="en-US"/>
          </a:p>
        </p:txBody>
      </p:sp>
      <p:sp>
        <p:nvSpPr>
          <p:cNvPr id="8" name="Footer Placeholder 7"/>
          <p:cNvSpPr>
            <a:spLocks noGrp="1"/>
          </p:cNvSpPr>
          <p:nvPr>
            <p:ph type="ftr" sz="quarter" idx="11"/>
          </p:nvPr>
        </p:nvSpPr>
        <p:spPr/>
        <p:txBody>
          <a:bodyPr/>
          <a:lstStyle/>
          <a:p>
            <a:r>
              <a:rPr lang="en-US"/>
              <a:t>mag 2024</a:t>
            </a:r>
          </a:p>
        </p:txBody>
      </p:sp>
      <p:sp>
        <p:nvSpPr>
          <p:cNvPr id="9" name="Slide Number Placeholder 8"/>
          <p:cNvSpPr>
            <a:spLocks noGrp="1"/>
          </p:cNvSpPr>
          <p:nvPr>
            <p:ph type="sldNum" sz="quarter" idx="12"/>
          </p:nvPr>
        </p:nvSpPr>
        <p:spPr/>
        <p:txBody>
          <a:bodyPr/>
          <a:lstStyle/>
          <a:p>
            <a:fld id="{4BBAE0D1-F310-4316-9DAB-64B7DEF8F935}" type="slidenum">
              <a:rPr lang="en-US" smtClean="0"/>
              <a:t>‹#›</a:t>
            </a:fld>
            <a:endParaRPr lang="en-US"/>
          </a:p>
        </p:txBody>
      </p:sp>
    </p:spTree>
    <p:extLst>
      <p:ext uri="{BB962C8B-B14F-4D97-AF65-F5344CB8AC3E}">
        <p14:creationId xmlns:p14="http://schemas.microsoft.com/office/powerpoint/2010/main" val="2818208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EEE0DA-D1DF-451E-9105-D2F6580054E7}" type="datetime1">
              <a:rPr lang="en-US" smtClean="0"/>
              <a:t>10/14/2025</a:t>
            </a:fld>
            <a:endParaRPr lang="en-US"/>
          </a:p>
        </p:txBody>
      </p:sp>
      <p:sp>
        <p:nvSpPr>
          <p:cNvPr id="4" name="Footer Placeholder 3"/>
          <p:cNvSpPr>
            <a:spLocks noGrp="1"/>
          </p:cNvSpPr>
          <p:nvPr>
            <p:ph type="ftr" sz="quarter" idx="11"/>
          </p:nvPr>
        </p:nvSpPr>
        <p:spPr/>
        <p:txBody>
          <a:bodyPr/>
          <a:lstStyle/>
          <a:p>
            <a:r>
              <a:rPr lang="en-US"/>
              <a:t>mag 2024</a:t>
            </a:r>
          </a:p>
        </p:txBody>
      </p:sp>
      <p:sp>
        <p:nvSpPr>
          <p:cNvPr id="5" name="Slide Number Placeholder 4"/>
          <p:cNvSpPr>
            <a:spLocks noGrp="1"/>
          </p:cNvSpPr>
          <p:nvPr>
            <p:ph type="sldNum" sz="quarter" idx="12"/>
          </p:nvPr>
        </p:nvSpPr>
        <p:spPr/>
        <p:txBody>
          <a:bodyPr/>
          <a:lstStyle/>
          <a:p>
            <a:fld id="{4BBAE0D1-F310-4316-9DAB-64B7DEF8F935}" type="slidenum">
              <a:rPr lang="en-US" smtClean="0"/>
              <a:t>‹#›</a:t>
            </a:fld>
            <a:endParaRPr lang="en-US"/>
          </a:p>
        </p:txBody>
      </p:sp>
    </p:spTree>
    <p:extLst>
      <p:ext uri="{BB962C8B-B14F-4D97-AF65-F5344CB8AC3E}">
        <p14:creationId xmlns:p14="http://schemas.microsoft.com/office/powerpoint/2010/main" val="865700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1AF68E-6D2C-4E65-9778-B1F5C891A133}" type="datetime1">
              <a:rPr lang="en-US" smtClean="0"/>
              <a:t>10/14/2025</a:t>
            </a:fld>
            <a:endParaRPr lang="en-US"/>
          </a:p>
        </p:txBody>
      </p:sp>
      <p:sp>
        <p:nvSpPr>
          <p:cNvPr id="3" name="Footer Placeholder 2"/>
          <p:cNvSpPr>
            <a:spLocks noGrp="1"/>
          </p:cNvSpPr>
          <p:nvPr>
            <p:ph type="ftr" sz="quarter" idx="11"/>
          </p:nvPr>
        </p:nvSpPr>
        <p:spPr/>
        <p:txBody>
          <a:bodyPr/>
          <a:lstStyle/>
          <a:p>
            <a:r>
              <a:rPr lang="en-US"/>
              <a:t>mag 2024</a:t>
            </a:r>
          </a:p>
        </p:txBody>
      </p:sp>
      <p:sp>
        <p:nvSpPr>
          <p:cNvPr id="4" name="Slide Number Placeholder 3"/>
          <p:cNvSpPr>
            <a:spLocks noGrp="1"/>
          </p:cNvSpPr>
          <p:nvPr>
            <p:ph type="sldNum" sz="quarter" idx="12"/>
          </p:nvPr>
        </p:nvSpPr>
        <p:spPr/>
        <p:txBody>
          <a:bodyPr/>
          <a:lstStyle/>
          <a:p>
            <a:fld id="{4BBAE0D1-F310-4316-9DAB-64B7DEF8F935}" type="slidenum">
              <a:rPr lang="en-US" smtClean="0"/>
              <a:t>‹#›</a:t>
            </a:fld>
            <a:endParaRPr lang="en-US"/>
          </a:p>
        </p:txBody>
      </p:sp>
    </p:spTree>
    <p:extLst>
      <p:ext uri="{BB962C8B-B14F-4D97-AF65-F5344CB8AC3E}">
        <p14:creationId xmlns:p14="http://schemas.microsoft.com/office/powerpoint/2010/main" val="2163376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60F8A97-AE58-447B-A967-A4E1D98DB900}" type="datetime1">
              <a:rPr lang="en-US" smtClean="0"/>
              <a:t>10/14/2025</a:t>
            </a:fld>
            <a:endParaRPr lang="en-US"/>
          </a:p>
        </p:txBody>
      </p:sp>
      <p:sp>
        <p:nvSpPr>
          <p:cNvPr id="6" name="Footer Placeholder 5"/>
          <p:cNvSpPr>
            <a:spLocks noGrp="1"/>
          </p:cNvSpPr>
          <p:nvPr>
            <p:ph type="ftr" sz="quarter" idx="11"/>
          </p:nvPr>
        </p:nvSpPr>
        <p:spPr/>
        <p:txBody>
          <a:bodyPr/>
          <a:lstStyle/>
          <a:p>
            <a:r>
              <a:rPr lang="en-US"/>
              <a:t>mag 2024</a:t>
            </a:r>
          </a:p>
        </p:txBody>
      </p:sp>
      <p:sp>
        <p:nvSpPr>
          <p:cNvPr id="7" name="Slide Number Placeholder 6"/>
          <p:cNvSpPr>
            <a:spLocks noGrp="1"/>
          </p:cNvSpPr>
          <p:nvPr>
            <p:ph type="sldNum" sz="quarter" idx="12"/>
          </p:nvPr>
        </p:nvSpPr>
        <p:spPr/>
        <p:txBody>
          <a:bodyPr/>
          <a:lstStyle/>
          <a:p>
            <a:fld id="{4BBAE0D1-F310-4316-9DAB-64B7DEF8F935}" type="slidenum">
              <a:rPr lang="en-US" smtClean="0"/>
              <a:t>‹#›</a:t>
            </a:fld>
            <a:endParaRPr lang="en-US"/>
          </a:p>
        </p:txBody>
      </p:sp>
    </p:spTree>
    <p:extLst>
      <p:ext uri="{BB962C8B-B14F-4D97-AF65-F5344CB8AC3E}">
        <p14:creationId xmlns:p14="http://schemas.microsoft.com/office/powerpoint/2010/main" val="2997688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52255E3-4791-4F60-9A8B-E92028690286}" type="datetime1">
              <a:rPr lang="en-US" smtClean="0"/>
              <a:t>10/14/2025</a:t>
            </a:fld>
            <a:endParaRPr lang="en-US"/>
          </a:p>
        </p:txBody>
      </p:sp>
      <p:sp>
        <p:nvSpPr>
          <p:cNvPr id="6" name="Footer Placeholder 5"/>
          <p:cNvSpPr>
            <a:spLocks noGrp="1"/>
          </p:cNvSpPr>
          <p:nvPr>
            <p:ph type="ftr" sz="quarter" idx="11"/>
          </p:nvPr>
        </p:nvSpPr>
        <p:spPr/>
        <p:txBody>
          <a:bodyPr/>
          <a:lstStyle/>
          <a:p>
            <a:r>
              <a:rPr lang="en-US"/>
              <a:t>mag 2024</a:t>
            </a:r>
          </a:p>
        </p:txBody>
      </p:sp>
      <p:sp>
        <p:nvSpPr>
          <p:cNvPr id="7" name="Slide Number Placeholder 6"/>
          <p:cNvSpPr>
            <a:spLocks noGrp="1"/>
          </p:cNvSpPr>
          <p:nvPr>
            <p:ph type="sldNum" sz="quarter" idx="12"/>
          </p:nvPr>
        </p:nvSpPr>
        <p:spPr/>
        <p:txBody>
          <a:bodyPr/>
          <a:lstStyle/>
          <a:p>
            <a:fld id="{4BBAE0D1-F310-4316-9DAB-64B7DEF8F935}" type="slidenum">
              <a:rPr lang="en-US" smtClean="0"/>
              <a:t>‹#›</a:t>
            </a:fld>
            <a:endParaRPr lang="en-US"/>
          </a:p>
        </p:txBody>
      </p:sp>
    </p:spTree>
    <p:extLst>
      <p:ext uri="{BB962C8B-B14F-4D97-AF65-F5344CB8AC3E}">
        <p14:creationId xmlns:p14="http://schemas.microsoft.com/office/powerpoint/2010/main" val="645703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248182-4A11-4AC1-BC75-93DC34D4BA8F}" type="datetime1">
              <a:rPr lang="en-US" smtClean="0"/>
              <a:t>10/14/2025</a:t>
            </a:fld>
            <a:endParaRPr lang="en-US"/>
          </a:p>
        </p:txBody>
      </p:sp>
      <p:sp>
        <p:nvSpPr>
          <p:cNvPr id="5" name="Footer Placeholder 4"/>
          <p:cNvSpPr>
            <a:spLocks noGrp="1"/>
          </p:cNvSpPr>
          <p:nvPr>
            <p:ph type="ftr" sz="quarter" idx="11"/>
          </p:nvPr>
        </p:nvSpPr>
        <p:spPr/>
        <p:txBody>
          <a:bodyPr/>
          <a:lstStyle/>
          <a:p>
            <a:r>
              <a:rPr lang="en-US"/>
              <a:t>mag 2024</a:t>
            </a:r>
          </a:p>
        </p:txBody>
      </p:sp>
      <p:sp>
        <p:nvSpPr>
          <p:cNvPr id="6" name="Slide Number Placeholder 5"/>
          <p:cNvSpPr>
            <a:spLocks noGrp="1"/>
          </p:cNvSpPr>
          <p:nvPr>
            <p:ph type="sldNum" sz="quarter" idx="12"/>
          </p:nvPr>
        </p:nvSpPr>
        <p:spPr/>
        <p:txBody>
          <a:bodyPr/>
          <a:lstStyle/>
          <a:p>
            <a:fld id="{4BBAE0D1-F310-4316-9DAB-64B7DEF8F935}" type="slidenum">
              <a:rPr lang="en-US" smtClean="0"/>
              <a:t>‹#›</a:t>
            </a:fld>
            <a:endParaRPr lang="en-US"/>
          </a:p>
        </p:txBody>
      </p:sp>
    </p:spTree>
    <p:extLst>
      <p:ext uri="{BB962C8B-B14F-4D97-AF65-F5344CB8AC3E}">
        <p14:creationId xmlns:p14="http://schemas.microsoft.com/office/powerpoint/2010/main" val="3085538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EF8847C-984C-40D7-A633-47CB98F07C68}" type="datetime1">
              <a:rPr lang="en-US" smtClean="0"/>
              <a:t>10/14/2025</a:t>
            </a:fld>
            <a:endParaRPr lang="en-US"/>
          </a:p>
        </p:txBody>
      </p:sp>
      <p:sp>
        <p:nvSpPr>
          <p:cNvPr id="5" name="Footer Placeholder 4"/>
          <p:cNvSpPr>
            <a:spLocks noGrp="1"/>
          </p:cNvSpPr>
          <p:nvPr>
            <p:ph type="ftr" sz="quarter" idx="11"/>
          </p:nvPr>
        </p:nvSpPr>
        <p:spPr/>
        <p:txBody>
          <a:bodyPr/>
          <a:lstStyle/>
          <a:p>
            <a:r>
              <a:rPr lang="en-US"/>
              <a:t>mag 2024</a:t>
            </a:r>
          </a:p>
        </p:txBody>
      </p:sp>
      <p:sp>
        <p:nvSpPr>
          <p:cNvPr id="6" name="Slide Number Placeholder 5"/>
          <p:cNvSpPr>
            <a:spLocks noGrp="1"/>
          </p:cNvSpPr>
          <p:nvPr>
            <p:ph type="sldNum" sz="quarter" idx="12"/>
          </p:nvPr>
        </p:nvSpPr>
        <p:spPr/>
        <p:txBody>
          <a:bodyPr/>
          <a:lstStyle/>
          <a:p>
            <a:fld id="{4BBAE0D1-F310-4316-9DAB-64B7DEF8F935}"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7366385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56B359-4957-4D2A-8EE5-E08F72A569FF}" type="datetime1">
              <a:rPr lang="en-US" smtClean="0"/>
              <a:t>10/14/2025</a:t>
            </a:fld>
            <a:endParaRPr lang="en-US"/>
          </a:p>
        </p:txBody>
      </p:sp>
      <p:sp>
        <p:nvSpPr>
          <p:cNvPr id="5" name="Footer Placeholder 4"/>
          <p:cNvSpPr>
            <a:spLocks noGrp="1"/>
          </p:cNvSpPr>
          <p:nvPr>
            <p:ph type="ftr" sz="quarter" idx="11"/>
          </p:nvPr>
        </p:nvSpPr>
        <p:spPr/>
        <p:txBody>
          <a:bodyPr/>
          <a:lstStyle/>
          <a:p>
            <a:r>
              <a:rPr lang="en-US"/>
              <a:t>mag 2024</a:t>
            </a:r>
          </a:p>
        </p:txBody>
      </p:sp>
      <p:sp>
        <p:nvSpPr>
          <p:cNvPr id="6" name="Slide Number Placeholder 5"/>
          <p:cNvSpPr>
            <a:spLocks noGrp="1"/>
          </p:cNvSpPr>
          <p:nvPr>
            <p:ph type="sldNum" sz="quarter" idx="12"/>
          </p:nvPr>
        </p:nvSpPr>
        <p:spPr/>
        <p:txBody>
          <a:bodyPr/>
          <a:lstStyle/>
          <a:p>
            <a:fld id="{4BBAE0D1-F310-4316-9DAB-64B7DEF8F935}" type="slidenum">
              <a:rPr lang="en-US" smtClean="0"/>
              <a:t>‹#›</a:t>
            </a:fld>
            <a:endParaRPr lang="en-US"/>
          </a:p>
        </p:txBody>
      </p:sp>
    </p:spTree>
    <p:extLst>
      <p:ext uri="{BB962C8B-B14F-4D97-AF65-F5344CB8AC3E}">
        <p14:creationId xmlns:p14="http://schemas.microsoft.com/office/powerpoint/2010/main" val="23078929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04F4708-1403-46F8-A3CC-A73A46187180}" type="datetime1">
              <a:rPr lang="en-US" smtClean="0"/>
              <a:t>10/14/2025</a:t>
            </a:fld>
            <a:endParaRPr lang="en-US"/>
          </a:p>
        </p:txBody>
      </p:sp>
      <p:sp>
        <p:nvSpPr>
          <p:cNvPr id="5" name="Footer Placeholder 4"/>
          <p:cNvSpPr>
            <a:spLocks noGrp="1"/>
          </p:cNvSpPr>
          <p:nvPr>
            <p:ph type="ftr" sz="quarter" idx="11"/>
          </p:nvPr>
        </p:nvSpPr>
        <p:spPr/>
        <p:txBody>
          <a:bodyPr/>
          <a:lstStyle/>
          <a:p>
            <a:r>
              <a:rPr lang="en-US"/>
              <a:t>mag 2024</a:t>
            </a:r>
          </a:p>
        </p:txBody>
      </p:sp>
      <p:sp>
        <p:nvSpPr>
          <p:cNvPr id="6" name="Slide Number Placeholder 5"/>
          <p:cNvSpPr>
            <a:spLocks noGrp="1"/>
          </p:cNvSpPr>
          <p:nvPr>
            <p:ph type="sldNum" sz="quarter" idx="12"/>
          </p:nvPr>
        </p:nvSpPr>
        <p:spPr/>
        <p:txBody>
          <a:bodyPr/>
          <a:lstStyle/>
          <a:p>
            <a:fld id="{4BBAE0D1-F310-4316-9DAB-64B7DEF8F93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759386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18BD686-8B29-4E88-B944-406619D93776}" type="datetime1">
              <a:rPr lang="en-US" smtClean="0"/>
              <a:t>10/14/2025</a:t>
            </a:fld>
            <a:endParaRPr lang="en-US"/>
          </a:p>
        </p:txBody>
      </p:sp>
      <p:sp>
        <p:nvSpPr>
          <p:cNvPr id="5" name="Footer Placeholder 4"/>
          <p:cNvSpPr>
            <a:spLocks noGrp="1"/>
          </p:cNvSpPr>
          <p:nvPr>
            <p:ph type="ftr" sz="quarter" idx="11"/>
          </p:nvPr>
        </p:nvSpPr>
        <p:spPr/>
        <p:txBody>
          <a:bodyPr/>
          <a:lstStyle/>
          <a:p>
            <a:r>
              <a:rPr lang="en-US"/>
              <a:t>mag 2024</a:t>
            </a:r>
          </a:p>
        </p:txBody>
      </p:sp>
      <p:sp>
        <p:nvSpPr>
          <p:cNvPr id="6" name="Slide Number Placeholder 5"/>
          <p:cNvSpPr>
            <a:spLocks noGrp="1"/>
          </p:cNvSpPr>
          <p:nvPr>
            <p:ph type="sldNum" sz="quarter" idx="12"/>
          </p:nvPr>
        </p:nvSpPr>
        <p:spPr/>
        <p:txBody>
          <a:bodyPr/>
          <a:lstStyle/>
          <a:p>
            <a:fld id="{4BBAE0D1-F310-4316-9DAB-64B7DEF8F935}" type="slidenum">
              <a:rPr lang="en-US" smtClean="0"/>
              <a:t>‹#›</a:t>
            </a:fld>
            <a:endParaRPr lang="en-US"/>
          </a:p>
        </p:txBody>
      </p:sp>
    </p:spTree>
    <p:extLst>
      <p:ext uri="{BB962C8B-B14F-4D97-AF65-F5344CB8AC3E}">
        <p14:creationId xmlns:p14="http://schemas.microsoft.com/office/powerpoint/2010/main" val="3645407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7B08ED-15DB-4826-83E9-9FA48F1716FC}" type="datetime1">
              <a:rPr lang="en-US" smtClean="0"/>
              <a:t>10/14/2025</a:t>
            </a:fld>
            <a:endParaRPr lang="en-US"/>
          </a:p>
        </p:txBody>
      </p:sp>
      <p:sp>
        <p:nvSpPr>
          <p:cNvPr id="5" name="Footer Placeholder 4"/>
          <p:cNvSpPr>
            <a:spLocks noGrp="1"/>
          </p:cNvSpPr>
          <p:nvPr>
            <p:ph type="ftr" sz="quarter" idx="11"/>
          </p:nvPr>
        </p:nvSpPr>
        <p:spPr/>
        <p:txBody>
          <a:bodyPr/>
          <a:lstStyle/>
          <a:p>
            <a:r>
              <a:rPr lang="en-US"/>
              <a:t>mag 2024</a:t>
            </a:r>
          </a:p>
        </p:txBody>
      </p:sp>
      <p:sp>
        <p:nvSpPr>
          <p:cNvPr id="6" name="Slide Number Placeholder 5"/>
          <p:cNvSpPr>
            <a:spLocks noGrp="1"/>
          </p:cNvSpPr>
          <p:nvPr>
            <p:ph type="sldNum" sz="quarter" idx="12"/>
          </p:nvPr>
        </p:nvSpPr>
        <p:spPr/>
        <p:txBody>
          <a:bodyPr/>
          <a:lstStyle/>
          <a:p>
            <a:fld id="{4BBAE0D1-F310-4316-9DAB-64B7DEF8F935}" type="slidenum">
              <a:rPr lang="en-US" smtClean="0"/>
              <a:t>‹#›</a:t>
            </a:fld>
            <a:endParaRPr lang="en-US"/>
          </a:p>
        </p:txBody>
      </p:sp>
    </p:spTree>
    <p:extLst>
      <p:ext uri="{BB962C8B-B14F-4D97-AF65-F5344CB8AC3E}">
        <p14:creationId xmlns:p14="http://schemas.microsoft.com/office/powerpoint/2010/main" val="1324375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336768-CAB6-4CF0-9130-04A177E30A44}" type="datetime1">
              <a:rPr lang="en-US" smtClean="0"/>
              <a:t>10/14/2025</a:t>
            </a:fld>
            <a:endParaRPr lang="en-US"/>
          </a:p>
        </p:txBody>
      </p:sp>
      <p:sp>
        <p:nvSpPr>
          <p:cNvPr id="5" name="Footer Placeholder 4"/>
          <p:cNvSpPr>
            <a:spLocks noGrp="1"/>
          </p:cNvSpPr>
          <p:nvPr>
            <p:ph type="ftr" sz="quarter" idx="11"/>
          </p:nvPr>
        </p:nvSpPr>
        <p:spPr/>
        <p:txBody>
          <a:bodyPr/>
          <a:lstStyle/>
          <a:p>
            <a:r>
              <a:rPr lang="en-US"/>
              <a:t>mag 2024</a:t>
            </a:r>
          </a:p>
        </p:txBody>
      </p:sp>
      <p:sp>
        <p:nvSpPr>
          <p:cNvPr id="6" name="Slide Number Placeholder 5"/>
          <p:cNvSpPr>
            <a:spLocks noGrp="1"/>
          </p:cNvSpPr>
          <p:nvPr>
            <p:ph type="sldNum" sz="quarter" idx="12"/>
          </p:nvPr>
        </p:nvSpPr>
        <p:spPr/>
        <p:txBody>
          <a:bodyPr/>
          <a:lstStyle/>
          <a:p>
            <a:fld id="{4BBAE0D1-F310-4316-9DAB-64B7DEF8F935}" type="slidenum">
              <a:rPr lang="en-US" smtClean="0"/>
              <a:t>‹#›</a:t>
            </a:fld>
            <a:endParaRPr lang="en-US"/>
          </a:p>
        </p:txBody>
      </p:sp>
    </p:spTree>
    <p:extLst>
      <p:ext uri="{BB962C8B-B14F-4D97-AF65-F5344CB8AC3E}">
        <p14:creationId xmlns:p14="http://schemas.microsoft.com/office/powerpoint/2010/main" val="4150305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89B6C35-3026-4E74-A8CE-892F57B83044}" type="datetime1">
              <a:rPr lang="en-US" smtClean="0"/>
              <a:t>10/14/2025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mag 2024</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BBAE0D1-F310-4316-9DAB-64B7DEF8F935}" type="slidenum">
              <a:rPr lang="en-US" smtClean="0"/>
              <a:t>‹#›</a:t>
            </a:fld>
            <a:endParaRPr lang="en-US"/>
          </a:p>
        </p:txBody>
      </p:sp>
    </p:spTree>
    <p:extLst>
      <p:ext uri="{BB962C8B-B14F-4D97-AF65-F5344CB8AC3E}">
        <p14:creationId xmlns:p14="http://schemas.microsoft.com/office/powerpoint/2010/main" val="3579547143"/>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researchmethodsgdansk.wordpress.com/2012/10/31/how-to-turn-a-research-idea-into-a-research-question-when-formulatingaresearch/"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Research Objectives-Questions,  Variables and Hypothesis</a:t>
            </a:r>
          </a:p>
        </p:txBody>
      </p:sp>
      <p:sp>
        <p:nvSpPr>
          <p:cNvPr id="5" name="Subtitle 4">
            <a:extLst>
              <a:ext uri="{FF2B5EF4-FFF2-40B4-BE49-F238E27FC236}">
                <a16:creationId xmlns:a16="http://schemas.microsoft.com/office/drawing/2014/main" id="{FF2D9832-CA6D-4849-BA8D-947B5C32DB49}"/>
              </a:ext>
            </a:extLst>
          </p:cNvPr>
          <p:cNvSpPr>
            <a:spLocks noGrp="1"/>
          </p:cNvSpPr>
          <p:nvPr>
            <p:ph type="subTitle" idx="1"/>
          </p:nvPr>
        </p:nvSpPr>
        <p:spPr/>
        <p:txBody>
          <a:bodyPr/>
          <a:lstStyle/>
          <a:p>
            <a:endParaRPr lang="en-KE" dirty="0"/>
          </a:p>
        </p:txBody>
      </p:sp>
      <p:sp>
        <p:nvSpPr>
          <p:cNvPr id="3" name="Footer Placeholder 2">
            <a:extLst>
              <a:ext uri="{FF2B5EF4-FFF2-40B4-BE49-F238E27FC236}">
                <a16:creationId xmlns:a16="http://schemas.microsoft.com/office/drawing/2014/main" id="{33F0E885-AD2B-4B89-BD42-7B2DE9F524A4}"/>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1368744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5F4DD-68EA-40C3-B79E-56F4A13D19CD}"/>
              </a:ext>
            </a:extLst>
          </p:cNvPr>
          <p:cNvSpPr>
            <a:spLocks noGrp="1"/>
          </p:cNvSpPr>
          <p:nvPr>
            <p:ph type="title"/>
          </p:nvPr>
        </p:nvSpPr>
        <p:spPr/>
        <p:txBody>
          <a:bodyPr/>
          <a:lstStyle/>
          <a:p>
            <a:r>
              <a:rPr lang="en-US" dirty="0"/>
              <a:t>Research Elements</a:t>
            </a:r>
            <a:endParaRPr lang="en-KE" dirty="0"/>
          </a:p>
        </p:txBody>
      </p:sp>
      <p:sp>
        <p:nvSpPr>
          <p:cNvPr id="3" name="Content Placeholder 2">
            <a:extLst>
              <a:ext uri="{FF2B5EF4-FFF2-40B4-BE49-F238E27FC236}">
                <a16:creationId xmlns:a16="http://schemas.microsoft.com/office/drawing/2014/main" id="{A85949C4-5A76-4682-A7F7-DD7A6304EE8C}"/>
              </a:ext>
            </a:extLst>
          </p:cNvPr>
          <p:cNvSpPr>
            <a:spLocks noGrp="1"/>
          </p:cNvSpPr>
          <p:nvPr>
            <p:ph idx="1"/>
          </p:nvPr>
        </p:nvSpPr>
        <p:spPr/>
        <p:txBody>
          <a:bodyPr/>
          <a:lstStyle/>
          <a:p>
            <a:r>
              <a:rPr lang="en-US" dirty="0"/>
              <a:t>Research provides structured inquiry into problems.</a:t>
            </a:r>
            <a:endParaRPr lang="en-KE" dirty="0"/>
          </a:p>
          <a:p>
            <a:r>
              <a:rPr lang="en-US" dirty="0"/>
              <a:t>Clear objectives and questions guide the investigation.</a:t>
            </a:r>
            <a:endParaRPr lang="en-KE" dirty="0"/>
          </a:p>
          <a:p>
            <a:r>
              <a:rPr lang="en-US" dirty="0"/>
              <a:t>Hypotheses provide a testable framework for analysis</a:t>
            </a:r>
            <a:endParaRPr lang="en-KE" dirty="0"/>
          </a:p>
        </p:txBody>
      </p:sp>
      <p:sp>
        <p:nvSpPr>
          <p:cNvPr id="4" name="Footer Placeholder 3">
            <a:extLst>
              <a:ext uri="{FF2B5EF4-FFF2-40B4-BE49-F238E27FC236}">
                <a16:creationId xmlns:a16="http://schemas.microsoft.com/office/drawing/2014/main" id="{C5E89C0B-7F8B-4ACA-BAC8-C2E33A848ADB}"/>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392299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F6B01-3483-47B6-A80D-E742F1936E54}"/>
              </a:ext>
            </a:extLst>
          </p:cNvPr>
          <p:cNvSpPr>
            <a:spLocks noGrp="1"/>
          </p:cNvSpPr>
          <p:nvPr>
            <p:ph type="title"/>
          </p:nvPr>
        </p:nvSpPr>
        <p:spPr/>
        <p:txBody>
          <a:bodyPr/>
          <a:lstStyle/>
          <a:p>
            <a:r>
              <a:rPr lang="en-US" dirty="0"/>
              <a:t>Research Problem</a:t>
            </a:r>
            <a:endParaRPr lang="en-KE" dirty="0"/>
          </a:p>
        </p:txBody>
      </p:sp>
      <p:sp>
        <p:nvSpPr>
          <p:cNvPr id="3" name="Content Placeholder 2">
            <a:extLst>
              <a:ext uri="{FF2B5EF4-FFF2-40B4-BE49-F238E27FC236}">
                <a16:creationId xmlns:a16="http://schemas.microsoft.com/office/drawing/2014/main" id="{8A47A579-181E-4504-9CE2-4186A4010E2F}"/>
              </a:ext>
            </a:extLst>
          </p:cNvPr>
          <p:cNvSpPr>
            <a:spLocks noGrp="1"/>
          </p:cNvSpPr>
          <p:nvPr>
            <p:ph idx="1"/>
          </p:nvPr>
        </p:nvSpPr>
        <p:spPr/>
        <p:txBody>
          <a:bodyPr>
            <a:normAutofit/>
          </a:bodyPr>
          <a:lstStyle/>
          <a:p>
            <a:r>
              <a:rPr lang="en-US" sz="2000" dirty="0"/>
              <a:t>A </a:t>
            </a:r>
            <a:r>
              <a:rPr lang="en-US" sz="2000" b="1" dirty="0"/>
              <a:t>research problem</a:t>
            </a:r>
            <a:r>
              <a:rPr lang="en-US" sz="2000" dirty="0"/>
              <a:t> is a specific </a:t>
            </a:r>
            <a:r>
              <a:rPr lang="en-US" sz="2000" b="1" dirty="0"/>
              <a:t>issue</a:t>
            </a:r>
            <a:r>
              <a:rPr lang="en-US" sz="2000" dirty="0"/>
              <a:t>, </a:t>
            </a:r>
            <a:r>
              <a:rPr lang="en-US" sz="2000" b="1" dirty="0"/>
              <a:t>difficulty</a:t>
            </a:r>
            <a:r>
              <a:rPr lang="en-US" sz="2000" dirty="0"/>
              <a:t>, or </a:t>
            </a:r>
            <a:r>
              <a:rPr lang="en-US" sz="2000" b="1" dirty="0"/>
              <a:t>gap</a:t>
            </a:r>
            <a:r>
              <a:rPr lang="en-US" sz="2000" dirty="0"/>
              <a:t> in </a:t>
            </a:r>
            <a:r>
              <a:rPr lang="en-US" sz="2000" b="1" dirty="0"/>
              <a:t>knowledge</a:t>
            </a:r>
            <a:r>
              <a:rPr lang="en-US" sz="2000" dirty="0"/>
              <a:t> that a researcher seeks to address through a study. It serves as the foundation for the research, guiding the formulation of research objectives, questions, and hypotheses. The research problem clearly identifies what needs to be solved or understood, and it can arise from theoretical gaps, practical challenges, or new developments in a field.</a:t>
            </a:r>
          </a:p>
          <a:p>
            <a:pPr marL="0" indent="0">
              <a:buNone/>
            </a:pPr>
            <a:endParaRPr lang="en-KE" dirty="0"/>
          </a:p>
        </p:txBody>
      </p:sp>
      <p:sp>
        <p:nvSpPr>
          <p:cNvPr id="4" name="Footer Placeholder 3">
            <a:extLst>
              <a:ext uri="{FF2B5EF4-FFF2-40B4-BE49-F238E27FC236}">
                <a16:creationId xmlns:a16="http://schemas.microsoft.com/office/drawing/2014/main" id="{B578032C-8FDE-4CC1-A922-A0C4B8D19AD6}"/>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1488243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F6B01-3483-47B6-A80D-E742F1936E54}"/>
              </a:ext>
            </a:extLst>
          </p:cNvPr>
          <p:cNvSpPr>
            <a:spLocks noGrp="1"/>
          </p:cNvSpPr>
          <p:nvPr>
            <p:ph type="title"/>
          </p:nvPr>
        </p:nvSpPr>
        <p:spPr/>
        <p:txBody>
          <a:bodyPr/>
          <a:lstStyle/>
          <a:p>
            <a:r>
              <a:rPr lang="en-US" b="1" dirty="0"/>
              <a:t>Characteristics of a Research Problem:</a:t>
            </a:r>
            <a:br>
              <a:rPr lang="en-US" b="1" dirty="0"/>
            </a:br>
            <a:endParaRPr lang="en-KE" dirty="0"/>
          </a:p>
        </p:txBody>
      </p:sp>
      <p:sp>
        <p:nvSpPr>
          <p:cNvPr id="3" name="Content Placeholder 2">
            <a:extLst>
              <a:ext uri="{FF2B5EF4-FFF2-40B4-BE49-F238E27FC236}">
                <a16:creationId xmlns:a16="http://schemas.microsoft.com/office/drawing/2014/main" id="{8A47A579-181E-4504-9CE2-4186A4010E2F}"/>
              </a:ext>
            </a:extLst>
          </p:cNvPr>
          <p:cNvSpPr>
            <a:spLocks noGrp="1"/>
          </p:cNvSpPr>
          <p:nvPr>
            <p:ph idx="1"/>
          </p:nvPr>
        </p:nvSpPr>
        <p:spPr/>
        <p:txBody>
          <a:bodyPr>
            <a:normAutofit/>
          </a:bodyPr>
          <a:lstStyle/>
          <a:p>
            <a:pPr>
              <a:buFont typeface="Arial" panose="020B0604020202020204" pitchFamily="34" charset="0"/>
              <a:buChar char="•"/>
            </a:pPr>
            <a:r>
              <a:rPr lang="en-US" b="1" dirty="0"/>
              <a:t>Clearly Stated</a:t>
            </a:r>
            <a:r>
              <a:rPr lang="en-US" dirty="0"/>
              <a:t>: The problem should be explicitly defined and unambiguous.</a:t>
            </a:r>
          </a:p>
          <a:p>
            <a:pPr>
              <a:buFont typeface="Arial" panose="020B0604020202020204" pitchFamily="34" charset="0"/>
              <a:buChar char="•"/>
            </a:pPr>
            <a:r>
              <a:rPr lang="en-US" b="1" dirty="0"/>
              <a:t>Significant</a:t>
            </a:r>
            <a:r>
              <a:rPr lang="en-US" dirty="0"/>
              <a:t>: It must have real-world relevance or contribute to the body of knowledge.</a:t>
            </a:r>
          </a:p>
          <a:p>
            <a:pPr>
              <a:buFont typeface="Arial" panose="020B0604020202020204" pitchFamily="34" charset="0"/>
              <a:buChar char="•"/>
            </a:pPr>
            <a:r>
              <a:rPr lang="en-US" b="1" dirty="0"/>
              <a:t>Researchable</a:t>
            </a:r>
            <a:r>
              <a:rPr lang="en-US" dirty="0"/>
              <a:t>: It should be possible to investigate the problem using data, analysis, and available resources.</a:t>
            </a:r>
          </a:p>
          <a:p>
            <a:pPr>
              <a:buFont typeface="Arial" panose="020B0604020202020204" pitchFamily="34" charset="0"/>
              <a:buChar char="•"/>
            </a:pPr>
            <a:r>
              <a:rPr lang="en-US" b="1" dirty="0"/>
              <a:t>Specific</a:t>
            </a:r>
            <a:r>
              <a:rPr lang="en-US" dirty="0"/>
              <a:t>: The problem should not be too broad, but focused enough to allow a detailed investigation.</a:t>
            </a:r>
          </a:p>
          <a:p>
            <a:endParaRPr lang="en-KE" dirty="0"/>
          </a:p>
        </p:txBody>
      </p:sp>
      <p:sp>
        <p:nvSpPr>
          <p:cNvPr id="4" name="Footer Placeholder 3">
            <a:extLst>
              <a:ext uri="{FF2B5EF4-FFF2-40B4-BE49-F238E27FC236}">
                <a16:creationId xmlns:a16="http://schemas.microsoft.com/office/drawing/2014/main" id="{66B5A968-13F4-4710-9264-66B2422C4BD0}"/>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1308586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F6B01-3483-47B6-A80D-E742F1936E54}"/>
              </a:ext>
            </a:extLst>
          </p:cNvPr>
          <p:cNvSpPr>
            <a:spLocks noGrp="1"/>
          </p:cNvSpPr>
          <p:nvPr>
            <p:ph type="title"/>
          </p:nvPr>
        </p:nvSpPr>
        <p:spPr/>
        <p:txBody>
          <a:bodyPr/>
          <a:lstStyle/>
          <a:p>
            <a:pPr marL="342900" lvl="0" indent="-342900">
              <a:spcBef>
                <a:spcPts val="1000"/>
              </a:spcBef>
            </a:pPr>
            <a:r>
              <a:rPr lang="en-US" sz="1500" b="1" dirty="0">
                <a:solidFill>
                  <a:prstClr val="black">
                    <a:lumMod val="75000"/>
                    <a:lumOff val="25000"/>
                  </a:prstClr>
                </a:solidFill>
                <a:ea typeface="+mn-ea"/>
                <a:cs typeface="+mn-cs"/>
              </a:rPr>
              <a:t>Steps to Formulate a Research Problem:</a:t>
            </a:r>
            <a:br>
              <a:rPr lang="en-US" sz="1500" b="1" dirty="0">
                <a:solidFill>
                  <a:prstClr val="black">
                    <a:lumMod val="75000"/>
                    <a:lumOff val="25000"/>
                  </a:prstClr>
                </a:solidFill>
                <a:ea typeface="+mn-ea"/>
                <a:cs typeface="+mn-cs"/>
              </a:rPr>
            </a:br>
            <a:endParaRPr lang="en-KE" dirty="0"/>
          </a:p>
        </p:txBody>
      </p:sp>
      <p:sp>
        <p:nvSpPr>
          <p:cNvPr id="3" name="Content Placeholder 2">
            <a:extLst>
              <a:ext uri="{FF2B5EF4-FFF2-40B4-BE49-F238E27FC236}">
                <a16:creationId xmlns:a16="http://schemas.microsoft.com/office/drawing/2014/main" id="{8A47A579-181E-4504-9CE2-4186A4010E2F}"/>
              </a:ext>
            </a:extLst>
          </p:cNvPr>
          <p:cNvSpPr>
            <a:spLocks noGrp="1"/>
          </p:cNvSpPr>
          <p:nvPr>
            <p:ph idx="1"/>
          </p:nvPr>
        </p:nvSpPr>
        <p:spPr/>
        <p:txBody>
          <a:bodyPr>
            <a:normAutofit/>
          </a:bodyPr>
          <a:lstStyle/>
          <a:p>
            <a:pPr>
              <a:buFont typeface="+mj-lt"/>
              <a:buAutoNum type="arabicPeriod"/>
            </a:pPr>
            <a:r>
              <a:rPr lang="en-US" b="1" dirty="0"/>
              <a:t>Identify a Broad Area of Interest</a:t>
            </a:r>
            <a:r>
              <a:rPr lang="en-US" dirty="0"/>
              <a:t>: Begin by selecting a general topic or area in the field (e.g., cybersecurity, artificial intelligence, cloud computing).</a:t>
            </a:r>
          </a:p>
          <a:p>
            <a:pPr>
              <a:buFont typeface="+mj-lt"/>
              <a:buAutoNum type="arabicPeriod"/>
            </a:pPr>
            <a:r>
              <a:rPr lang="en-US" b="1" dirty="0"/>
              <a:t>Narrow Down the Focus</a:t>
            </a:r>
            <a:r>
              <a:rPr lang="en-US" dirty="0"/>
              <a:t>: Break the broad topic into smaller, more manageable areas by reviewing literature, finding gaps, or identifying practical challenges.</a:t>
            </a:r>
          </a:p>
          <a:p>
            <a:pPr>
              <a:buFont typeface="+mj-lt"/>
              <a:buAutoNum type="arabicPeriod"/>
            </a:pPr>
            <a:r>
              <a:rPr lang="en-US" b="1" dirty="0"/>
              <a:t>Formulate the Problem Statement</a:t>
            </a:r>
            <a:r>
              <a:rPr lang="en-US" dirty="0"/>
              <a:t>: Clearly define the problem, focusing on its importance and the need for a solution.</a:t>
            </a:r>
          </a:p>
          <a:p>
            <a:endParaRPr lang="en-KE" dirty="0"/>
          </a:p>
        </p:txBody>
      </p:sp>
      <p:sp>
        <p:nvSpPr>
          <p:cNvPr id="4" name="Footer Placeholder 3">
            <a:extLst>
              <a:ext uri="{FF2B5EF4-FFF2-40B4-BE49-F238E27FC236}">
                <a16:creationId xmlns:a16="http://schemas.microsoft.com/office/drawing/2014/main" id="{E19349FD-804B-44DC-BF1E-FD6604B07EB4}"/>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958755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F6B01-3483-47B6-A80D-E742F1936E54}"/>
              </a:ext>
            </a:extLst>
          </p:cNvPr>
          <p:cNvSpPr>
            <a:spLocks noGrp="1"/>
          </p:cNvSpPr>
          <p:nvPr>
            <p:ph type="title"/>
          </p:nvPr>
        </p:nvSpPr>
        <p:spPr/>
        <p:txBody>
          <a:bodyPr/>
          <a:lstStyle/>
          <a:p>
            <a:pPr marL="342900" indent="-342900">
              <a:spcBef>
                <a:spcPts val="1000"/>
              </a:spcBef>
            </a:pPr>
            <a:r>
              <a:rPr lang="en-US" sz="1600" b="1" dirty="0"/>
              <a:t>Research Problem:</a:t>
            </a:r>
            <a:br>
              <a:rPr lang="en-US" sz="1600" b="1" dirty="0"/>
            </a:br>
            <a:br>
              <a:rPr lang="en-US" sz="1500" b="1" dirty="0">
                <a:solidFill>
                  <a:prstClr val="black">
                    <a:lumMod val="75000"/>
                    <a:lumOff val="25000"/>
                  </a:prstClr>
                </a:solidFill>
                <a:ea typeface="+mn-ea"/>
                <a:cs typeface="+mn-cs"/>
              </a:rPr>
            </a:br>
            <a:endParaRPr lang="en-KE" dirty="0"/>
          </a:p>
        </p:txBody>
      </p:sp>
      <p:sp>
        <p:nvSpPr>
          <p:cNvPr id="3" name="Content Placeholder 2">
            <a:extLst>
              <a:ext uri="{FF2B5EF4-FFF2-40B4-BE49-F238E27FC236}">
                <a16:creationId xmlns:a16="http://schemas.microsoft.com/office/drawing/2014/main" id="{8A47A579-181E-4504-9CE2-4186A4010E2F}"/>
              </a:ext>
            </a:extLst>
          </p:cNvPr>
          <p:cNvSpPr>
            <a:spLocks noGrp="1"/>
          </p:cNvSpPr>
          <p:nvPr>
            <p:ph idx="1"/>
          </p:nvPr>
        </p:nvSpPr>
        <p:spPr>
          <a:xfrm>
            <a:off x="677334" y="1590675"/>
            <a:ext cx="8596668" cy="4450687"/>
          </a:xfrm>
        </p:spPr>
        <p:txBody>
          <a:bodyPr>
            <a:normAutofit fontScale="92500" lnSpcReduction="20000"/>
          </a:bodyPr>
          <a:lstStyle/>
          <a:p>
            <a:pPr marL="0" lvl="0" indent="0">
              <a:buClr>
                <a:srgbClr val="90C226"/>
              </a:buClr>
              <a:buNone/>
            </a:pPr>
            <a:r>
              <a:rPr lang="en-US" i="1" dirty="0"/>
              <a:t>TOPIC:</a:t>
            </a:r>
            <a:r>
              <a:rPr lang="en-US" b="1" dirty="0">
                <a:solidFill>
                  <a:prstClr val="black">
                    <a:lumMod val="75000"/>
                    <a:lumOff val="25000"/>
                  </a:prstClr>
                </a:solidFill>
              </a:rPr>
              <a:t> CLOUD COMPUTING SECURITY</a:t>
            </a:r>
          </a:p>
          <a:p>
            <a:endParaRPr lang="en-US" i="1" dirty="0"/>
          </a:p>
          <a:p>
            <a:r>
              <a:rPr lang="en-US" i="1" dirty="0"/>
              <a:t>"Despite the increasing adoption of cloud services by businesses, many small and medium enterprises (SMEs) face frequent data breaches due to inadequate implementation of security measures, particularly in the area of access management."</a:t>
            </a:r>
            <a:endParaRPr lang="en-US" dirty="0"/>
          </a:p>
          <a:p>
            <a:pPr marL="0" indent="0">
              <a:buNone/>
            </a:pPr>
            <a:r>
              <a:rPr lang="en-US" dirty="0"/>
              <a:t>In this example:</a:t>
            </a:r>
          </a:p>
          <a:p>
            <a:pPr>
              <a:buFont typeface="Arial" panose="020B0604020202020204" pitchFamily="34" charset="0"/>
              <a:buChar char="•"/>
            </a:pPr>
            <a:r>
              <a:rPr lang="en-US" dirty="0"/>
              <a:t>The </a:t>
            </a:r>
            <a:r>
              <a:rPr lang="en-US" b="1" dirty="0"/>
              <a:t>area of interest</a:t>
            </a:r>
            <a:r>
              <a:rPr lang="en-US" dirty="0"/>
              <a:t> is cloud computing security.</a:t>
            </a:r>
          </a:p>
          <a:p>
            <a:pPr>
              <a:buFont typeface="Arial" panose="020B0604020202020204" pitchFamily="34" charset="0"/>
              <a:buChar char="•"/>
            </a:pPr>
            <a:r>
              <a:rPr lang="en-US" dirty="0"/>
              <a:t>The </a:t>
            </a:r>
            <a:r>
              <a:rPr lang="en-US" b="1" dirty="0"/>
              <a:t>specific focus</a:t>
            </a:r>
            <a:r>
              <a:rPr lang="en-US" dirty="0"/>
              <a:t> is on </a:t>
            </a:r>
            <a:r>
              <a:rPr lang="en-US" b="1" dirty="0"/>
              <a:t>data breaches</a:t>
            </a:r>
            <a:r>
              <a:rPr lang="en-US" dirty="0"/>
              <a:t> in SMEs using cloud services.</a:t>
            </a:r>
          </a:p>
          <a:p>
            <a:pPr>
              <a:buFont typeface="Arial" panose="020B0604020202020204" pitchFamily="34" charset="0"/>
              <a:buChar char="•"/>
            </a:pPr>
            <a:r>
              <a:rPr lang="en-US" dirty="0"/>
              <a:t>The </a:t>
            </a:r>
            <a:r>
              <a:rPr lang="en-US" b="1" dirty="0"/>
              <a:t>problem</a:t>
            </a:r>
            <a:r>
              <a:rPr lang="en-US" dirty="0"/>
              <a:t> is the </a:t>
            </a:r>
            <a:r>
              <a:rPr lang="en-US" b="1" dirty="0"/>
              <a:t>inadequate implementation of security measures</a:t>
            </a:r>
            <a:r>
              <a:rPr lang="en-US" dirty="0"/>
              <a:t> (especially access management).</a:t>
            </a:r>
          </a:p>
          <a:p>
            <a:pPr>
              <a:buFont typeface="Arial" panose="020B0604020202020204" pitchFamily="34" charset="0"/>
              <a:buChar char="•"/>
            </a:pPr>
            <a:r>
              <a:rPr lang="en-US" dirty="0"/>
              <a:t>This problem is </a:t>
            </a:r>
            <a:r>
              <a:rPr lang="en-US" b="1" dirty="0"/>
              <a:t>researchable</a:t>
            </a:r>
            <a:r>
              <a:rPr lang="en-US" dirty="0"/>
              <a:t> because it can be studied through data on breach incidents, security practices, and the use of specific access control methods.</a:t>
            </a:r>
          </a:p>
          <a:p>
            <a:pPr marL="0" indent="0">
              <a:buNone/>
            </a:pPr>
            <a:r>
              <a:rPr lang="en-US" dirty="0"/>
              <a:t>This research problem sets the stage for a study to investigate why SMEs struggle with securing their cloud environments and to explore possible solutions to improve access management systems.</a:t>
            </a:r>
          </a:p>
          <a:p>
            <a:endParaRPr lang="en-KE" dirty="0"/>
          </a:p>
        </p:txBody>
      </p:sp>
      <p:sp>
        <p:nvSpPr>
          <p:cNvPr id="4" name="Footer Placeholder 3">
            <a:extLst>
              <a:ext uri="{FF2B5EF4-FFF2-40B4-BE49-F238E27FC236}">
                <a16:creationId xmlns:a16="http://schemas.microsoft.com/office/drawing/2014/main" id="{5749AD11-7F89-4BAB-9147-EF7BC4556191}"/>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3924816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1E09D-436D-4432-A207-D85E18FD28D6}"/>
              </a:ext>
            </a:extLst>
          </p:cNvPr>
          <p:cNvSpPr>
            <a:spLocks noGrp="1"/>
          </p:cNvSpPr>
          <p:nvPr>
            <p:ph type="title"/>
          </p:nvPr>
        </p:nvSpPr>
        <p:spPr/>
        <p:txBody>
          <a:bodyPr/>
          <a:lstStyle/>
          <a:p>
            <a:r>
              <a:rPr lang="en-US" dirty="0"/>
              <a:t>PURPOSE, and AIM IN RESEARCH</a:t>
            </a:r>
            <a:endParaRPr lang="en-KE" dirty="0"/>
          </a:p>
        </p:txBody>
      </p:sp>
      <p:sp>
        <p:nvSpPr>
          <p:cNvPr id="3" name="Content Placeholder 2">
            <a:extLst>
              <a:ext uri="{FF2B5EF4-FFF2-40B4-BE49-F238E27FC236}">
                <a16:creationId xmlns:a16="http://schemas.microsoft.com/office/drawing/2014/main" id="{EA443DBE-649A-448B-8784-02CD2218049A}"/>
              </a:ext>
            </a:extLst>
          </p:cNvPr>
          <p:cNvSpPr>
            <a:spLocks noGrp="1"/>
          </p:cNvSpPr>
          <p:nvPr>
            <p:ph idx="1"/>
          </p:nvPr>
        </p:nvSpPr>
        <p:spPr/>
        <p:txBody>
          <a:bodyPr>
            <a:normAutofit/>
          </a:bodyPr>
          <a:lstStyle/>
          <a:p>
            <a:pPr marL="0" indent="0">
              <a:buNone/>
            </a:pPr>
            <a:r>
              <a:rPr lang="en-US" dirty="0"/>
              <a:t>In </a:t>
            </a:r>
            <a:r>
              <a:rPr lang="en-US" b="1" dirty="0"/>
              <a:t>IT Research Methods</a:t>
            </a:r>
            <a:r>
              <a:rPr lang="en-US" dirty="0"/>
              <a:t>, the </a:t>
            </a:r>
            <a:r>
              <a:rPr lang="en-US" b="1" dirty="0"/>
              <a:t>purpose</a:t>
            </a:r>
            <a:r>
              <a:rPr lang="en-US" dirty="0"/>
              <a:t>, </a:t>
            </a:r>
            <a:r>
              <a:rPr lang="en-US" b="1" dirty="0"/>
              <a:t>aim</a:t>
            </a:r>
            <a:r>
              <a:rPr lang="en-US" dirty="0"/>
              <a:t>, and </a:t>
            </a:r>
            <a:r>
              <a:rPr lang="en-US" b="1" dirty="0"/>
              <a:t>objective</a:t>
            </a:r>
            <a:r>
              <a:rPr lang="en-US" dirty="0"/>
              <a:t> of a study are key elements that outline what the research is trying to achieve, why it's important, and how the research will accomplish its goals.</a:t>
            </a:r>
          </a:p>
          <a:p>
            <a:pPr marL="0" indent="0">
              <a:buNone/>
            </a:pPr>
            <a:r>
              <a:rPr lang="en-US" b="1" dirty="0"/>
              <a:t>Definitions:</a:t>
            </a:r>
          </a:p>
          <a:p>
            <a:pPr>
              <a:buFont typeface="+mj-lt"/>
              <a:buAutoNum type="arabicPeriod"/>
            </a:pPr>
            <a:r>
              <a:rPr lang="en-US" b="1" dirty="0"/>
              <a:t>Purpose of the Study</a:t>
            </a:r>
            <a:r>
              <a:rPr lang="en-US" dirty="0"/>
              <a:t>:</a:t>
            </a:r>
          </a:p>
          <a:p>
            <a:pPr lvl="1">
              <a:buFont typeface="+mj-lt"/>
              <a:buAutoNum type="arabicPeriod"/>
            </a:pPr>
            <a:r>
              <a:rPr lang="en-US" dirty="0"/>
              <a:t>The </a:t>
            </a:r>
            <a:r>
              <a:rPr lang="en-US" b="1" dirty="0"/>
              <a:t>purpose</a:t>
            </a:r>
            <a:r>
              <a:rPr lang="en-US" dirty="0"/>
              <a:t> explains the reason or motivation for conducting the research. It answers the "why" of the research by providing the rationale behind investigating the problem.</a:t>
            </a:r>
          </a:p>
          <a:p>
            <a:pPr>
              <a:buFont typeface="+mj-lt"/>
              <a:buAutoNum type="arabicPeriod"/>
            </a:pPr>
            <a:r>
              <a:rPr lang="en-US" b="1" dirty="0"/>
              <a:t>Aim of the Study</a:t>
            </a:r>
            <a:r>
              <a:rPr lang="en-US" dirty="0"/>
              <a:t>:</a:t>
            </a:r>
          </a:p>
          <a:p>
            <a:pPr lvl="1">
              <a:buFont typeface="+mj-lt"/>
              <a:buAutoNum type="arabicPeriod"/>
            </a:pPr>
            <a:r>
              <a:rPr lang="en-US" dirty="0"/>
              <a:t>The </a:t>
            </a:r>
            <a:r>
              <a:rPr lang="en-US" b="1" dirty="0"/>
              <a:t>aim</a:t>
            </a:r>
            <a:r>
              <a:rPr lang="en-US" dirty="0"/>
              <a:t> is a broad statement that describes the overall goal of the research. It focuses on what the research intends to accomplish in a general sense.</a:t>
            </a:r>
          </a:p>
          <a:p>
            <a:endParaRPr lang="en-KE" dirty="0"/>
          </a:p>
        </p:txBody>
      </p:sp>
      <p:sp>
        <p:nvSpPr>
          <p:cNvPr id="4" name="Footer Placeholder 3">
            <a:extLst>
              <a:ext uri="{FF2B5EF4-FFF2-40B4-BE49-F238E27FC236}">
                <a16:creationId xmlns:a16="http://schemas.microsoft.com/office/drawing/2014/main" id="{6F9F94DC-2291-4733-A71B-7914225BCD38}"/>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2646782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1E09D-436D-4432-A207-D85E18FD28D6}"/>
              </a:ext>
            </a:extLst>
          </p:cNvPr>
          <p:cNvSpPr>
            <a:spLocks noGrp="1"/>
          </p:cNvSpPr>
          <p:nvPr>
            <p:ph type="title"/>
          </p:nvPr>
        </p:nvSpPr>
        <p:spPr/>
        <p:txBody>
          <a:bodyPr>
            <a:normAutofit fontScale="90000"/>
          </a:bodyPr>
          <a:lstStyle/>
          <a:p>
            <a:r>
              <a:rPr lang="en-US" b="1" dirty="0"/>
              <a:t>Example of Purpose, Aim, and Objective in an IT Research Study:</a:t>
            </a:r>
            <a:br>
              <a:rPr lang="en-US" b="1" dirty="0"/>
            </a:br>
            <a:endParaRPr lang="en-KE" dirty="0"/>
          </a:p>
        </p:txBody>
      </p:sp>
      <p:sp>
        <p:nvSpPr>
          <p:cNvPr id="3" name="Content Placeholder 2">
            <a:extLst>
              <a:ext uri="{FF2B5EF4-FFF2-40B4-BE49-F238E27FC236}">
                <a16:creationId xmlns:a16="http://schemas.microsoft.com/office/drawing/2014/main" id="{EA443DBE-649A-448B-8784-02CD2218049A}"/>
              </a:ext>
            </a:extLst>
          </p:cNvPr>
          <p:cNvSpPr>
            <a:spLocks noGrp="1"/>
          </p:cNvSpPr>
          <p:nvPr>
            <p:ph idx="1"/>
          </p:nvPr>
        </p:nvSpPr>
        <p:spPr>
          <a:xfrm>
            <a:off x="677334" y="1495425"/>
            <a:ext cx="9876366" cy="5105400"/>
          </a:xfrm>
        </p:spPr>
        <p:txBody>
          <a:bodyPr>
            <a:normAutofit/>
          </a:bodyPr>
          <a:lstStyle/>
          <a:p>
            <a:endParaRPr lang="en-US" dirty="0"/>
          </a:p>
          <a:p>
            <a:r>
              <a:rPr lang="en-US" b="1" dirty="0"/>
              <a:t>Research Topic: Enhancing Data Privacy in Mobile Health Applications</a:t>
            </a:r>
          </a:p>
          <a:p>
            <a:pPr>
              <a:buFont typeface="Arial" panose="020B0604020202020204" pitchFamily="34" charset="0"/>
              <a:buChar char="•"/>
            </a:pPr>
            <a:r>
              <a:rPr lang="en-US" b="1" dirty="0"/>
              <a:t>Purpose</a:t>
            </a:r>
            <a:r>
              <a:rPr lang="en-US" dirty="0"/>
              <a:t>: </a:t>
            </a:r>
            <a:r>
              <a:rPr lang="en-US" i="1" dirty="0"/>
              <a:t>The purpose of this study is to address growing concerns over user data privacy in mobile health applications by examining how current privacy-preserving techniques can be improved to meet regulatory standards and user expectations.</a:t>
            </a:r>
            <a:endParaRPr lang="en-US" dirty="0"/>
          </a:p>
          <a:p>
            <a:pPr lvl="1">
              <a:buFont typeface="Arial" panose="020B0604020202020204" pitchFamily="34" charset="0"/>
              <a:buChar char="•"/>
            </a:pPr>
            <a:r>
              <a:rPr lang="en-US" b="1" dirty="0"/>
              <a:t>Explanation</a:t>
            </a:r>
            <a:r>
              <a:rPr lang="en-US" dirty="0"/>
              <a:t>: This explains why the study is necessary — to tackle the increasing concerns and challenges related to privacy in mobile health apps.</a:t>
            </a:r>
          </a:p>
          <a:p>
            <a:pPr>
              <a:buFont typeface="Arial" panose="020B0604020202020204" pitchFamily="34" charset="0"/>
              <a:buChar char="•"/>
            </a:pPr>
            <a:r>
              <a:rPr lang="en-US" b="1" dirty="0"/>
              <a:t>Aim</a:t>
            </a:r>
            <a:r>
              <a:rPr lang="en-US" dirty="0"/>
              <a:t>: </a:t>
            </a:r>
            <a:r>
              <a:rPr lang="en-US" i="1" dirty="0"/>
              <a:t>The aim of the research is to develop a new privacy-enhancing framework that ensures the confidentiality and security of sensitive health data in mobile health applications.</a:t>
            </a:r>
            <a:endParaRPr lang="en-US" dirty="0"/>
          </a:p>
          <a:p>
            <a:pPr lvl="1">
              <a:buFont typeface="Arial" panose="020B0604020202020204" pitchFamily="34" charset="0"/>
              <a:buChar char="•"/>
            </a:pPr>
            <a:r>
              <a:rPr lang="en-US" b="1" dirty="0"/>
              <a:t>Explanation</a:t>
            </a:r>
            <a:r>
              <a:rPr lang="en-US" dirty="0"/>
              <a:t>: The aim is a high-level, general statement outlining what the research intends to achieve — creating a new privacy framework for health apps.</a:t>
            </a:r>
          </a:p>
          <a:p>
            <a:endParaRPr lang="en-KE" dirty="0"/>
          </a:p>
        </p:txBody>
      </p:sp>
      <p:sp>
        <p:nvSpPr>
          <p:cNvPr id="4" name="Footer Placeholder 3">
            <a:extLst>
              <a:ext uri="{FF2B5EF4-FFF2-40B4-BE49-F238E27FC236}">
                <a16:creationId xmlns:a16="http://schemas.microsoft.com/office/drawing/2014/main" id="{F67C4D88-C79D-4104-869D-77CA20F26442}"/>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2233262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1E09D-436D-4432-A207-D85E18FD28D6}"/>
              </a:ext>
            </a:extLst>
          </p:cNvPr>
          <p:cNvSpPr>
            <a:spLocks noGrp="1"/>
          </p:cNvSpPr>
          <p:nvPr>
            <p:ph type="title"/>
          </p:nvPr>
        </p:nvSpPr>
        <p:spPr/>
        <p:txBody>
          <a:bodyPr>
            <a:normAutofit fontScale="90000"/>
          </a:bodyPr>
          <a:lstStyle/>
          <a:p>
            <a:r>
              <a:rPr lang="en-US" b="1" dirty="0"/>
              <a:t>Summary of Purpose, Aim and Objectives:</a:t>
            </a:r>
            <a:br>
              <a:rPr lang="en-US" b="1" dirty="0"/>
            </a:br>
            <a:endParaRPr lang="en-KE" dirty="0"/>
          </a:p>
        </p:txBody>
      </p:sp>
      <p:sp>
        <p:nvSpPr>
          <p:cNvPr id="3" name="Content Placeholder 2">
            <a:extLst>
              <a:ext uri="{FF2B5EF4-FFF2-40B4-BE49-F238E27FC236}">
                <a16:creationId xmlns:a16="http://schemas.microsoft.com/office/drawing/2014/main" id="{EA443DBE-649A-448B-8784-02CD2218049A}"/>
              </a:ext>
            </a:extLst>
          </p:cNvPr>
          <p:cNvSpPr>
            <a:spLocks noGrp="1"/>
          </p:cNvSpPr>
          <p:nvPr>
            <p:ph idx="1"/>
          </p:nvPr>
        </p:nvSpPr>
        <p:spPr>
          <a:xfrm>
            <a:off x="677334" y="1171575"/>
            <a:ext cx="8596668" cy="4869787"/>
          </a:xfrm>
        </p:spPr>
        <p:txBody>
          <a:bodyPr>
            <a:normAutofit/>
          </a:bodyPr>
          <a:lstStyle/>
          <a:p>
            <a:pPr marL="0" indent="0">
              <a:buNone/>
            </a:pPr>
            <a:r>
              <a:rPr lang="en-US" b="1" dirty="0"/>
              <a:t>Purpose</a:t>
            </a:r>
            <a:r>
              <a:rPr lang="en-US" dirty="0"/>
              <a:t>: Explains </a:t>
            </a:r>
            <a:r>
              <a:rPr lang="en-US" b="1" dirty="0"/>
              <a:t>why</a:t>
            </a:r>
            <a:r>
              <a:rPr lang="en-US" dirty="0"/>
              <a:t> the research is important or necessary. </a:t>
            </a:r>
          </a:p>
          <a:p>
            <a:pPr marL="0" indent="0">
              <a:buNone/>
            </a:pPr>
            <a:r>
              <a:rPr lang="en-US" b="1" dirty="0"/>
              <a:t>Aim</a:t>
            </a:r>
            <a:r>
              <a:rPr lang="en-US" dirty="0"/>
              <a:t>: Describes </a:t>
            </a:r>
            <a:r>
              <a:rPr lang="en-US" b="1" dirty="0"/>
              <a:t>what</a:t>
            </a:r>
            <a:r>
              <a:rPr lang="en-US" dirty="0"/>
              <a:t> the research intends to achieve in general.</a:t>
            </a:r>
          </a:p>
          <a:p>
            <a:pPr lvl="0">
              <a:buClr>
                <a:srgbClr val="90C226"/>
              </a:buClr>
            </a:pPr>
            <a:r>
              <a:rPr lang="en-US" dirty="0">
                <a:solidFill>
                  <a:prstClr val="black">
                    <a:lumMod val="75000"/>
                    <a:lumOff val="25000"/>
                  </a:prstClr>
                </a:solidFill>
              </a:rPr>
              <a:t>What intentions or goals do you want to achieve?</a:t>
            </a:r>
          </a:p>
          <a:p>
            <a:pPr lvl="1">
              <a:buClr>
                <a:srgbClr val="90C226"/>
              </a:buClr>
            </a:pPr>
            <a:r>
              <a:rPr lang="en-US" dirty="0">
                <a:solidFill>
                  <a:prstClr val="black">
                    <a:lumMod val="75000"/>
                    <a:lumOff val="25000"/>
                  </a:prstClr>
                </a:solidFill>
              </a:rPr>
              <a:t>Solve the lack of fees or money in January</a:t>
            </a:r>
          </a:p>
          <a:p>
            <a:pPr lvl="1">
              <a:buClr>
                <a:srgbClr val="90C226"/>
              </a:buClr>
            </a:pPr>
            <a:r>
              <a:rPr lang="en-US" dirty="0">
                <a:solidFill>
                  <a:prstClr val="black">
                    <a:lumMod val="75000"/>
                    <a:lumOff val="25000"/>
                  </a:prstClr>
                </a:solidFill>
              </a:rPr>
              <a:t>Increase the effective application of mobile money transfers</a:t>
            </a:r>
          </a:p>
          <a:p>
            <a:pPr lvl="0">
              <a:buClr>
                <a:srgbClr val="90C226"/>
              </a:buClr>
            </a:pPr>
            <a:r>
              <a:rPr lang="en-US" dirty="0">
                <a:solidFill>
                  <a:prstClr val="black">
                    <a:lumMod val="75000"/>
                    <a:lumOff val="25000"/>
                  </a:prstClr>
                </a:solidFill>
              </a:rPr>
              <a:t>Aims reflect the outcome of the research.</a:t>
            </a:r>
          </a:p>
          <a:p>
            <a:pPr lvl="0">
              <a:buClr>
                <a:srgbClr val="90C226"/>
              </a:buClr>
            </a:pPr>
            <a:r>
              <a:rPr lang="en-US" dirty="0">
                <a:solidFill>
                  <a:prstClr val="black">
                    <a:lumMod val="75000"/>
                    <a:lumOff val="25000"/>
                  </a:prstClr>
                </a:solidFill>
              </a:rPr>
              <a:t>They portray the overall effectiveness of the study.</a:t>
            </a:r>
          </a:p>
          <a:p>
            <a:pPr lvl="0">
              <a:buClr>
                <a:srgbClr val="90C226"/>
              </a:buClr>
            </a:pPr>
            <a:r>
              <a:rPr lang="en-US" dirty="0">
                <a:solidFill>
                  <a:prstClr val="black">
                    <a:lumMod val="75000"/>
                    <a:lumOff val="25000"/>
                  </a:prstClr>
                </a:solidFill>
              </a:rPr>
              <a:t>They reflect the aspirations and effectiveness of the researcher</a:t>
            </a:r>
          </a:p>
          <a:p>
            <a:pPr>
              <a:buFont typeface="Arial" panose="020B0604020202020204" pitchFamily="34" charset="0"/>
              <a:buChar char="•"/>
            </a:pPr>
            <a:endParaRPr lang="en-US" dirty="0"/>
          </a:p>
          <a:p>
            <a:pPr marL="0" indent="0">
              <a:buNone/>
            </a:pPr>
            <a:r>
              <a:rPr lang="en-US" b="1" dirty="0"/>
              <a:t>Objectives</a:t>
            </a:r>
            <a:r>
              <a:rPr lang="en-US" dirty="0"/>
              <a:t>: Specify </a:t>
            </a:r>
            <a:r>
              <a:rPr lang="en-US" b="1" dirty="0"/>
              <a:t>how</a:t>
            </a:r>
            <a:r>
              <a:rPr lang="en-US" dirty="0"/>
              <a:t> the research will be conducted to achieve the aim.</a:t>
            </a:r>
          </a:p>
          <a:p>
            <a:endParaRPr lang="en-KE" dirty="0"/>
          </a:p>
        </p:txBody>
      </p:sp>
      <p:sp>
        <p:nvSpPr>
          <p:cNvPr id="4" name="Footer Placeholder 3">
            <a:extLst>
              <a:ext uri="{FF2B5EF4-FFF2-40B4-BE49-F238E27FC236}">
                <a16:creationId xmlns:a16="http://schemas.microsoft.com/office/drawing/2014/main" id="{9F8129FB-880D-43D0-9E21-10ECA5114ABD}"/>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2549396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53C7A-EF05-46A0-BBC7-9F02B956C69A}"/>
              </a:ext>
            </a:extLst>
          </p:cNvPr>
          <p:cNvSpPr>
            <a:spLocks noGrp="1"/>
          </p:cNvSpPr>
          <p:nvPr>
            <p:ph type="title"/>
          </p:nvPr>
        </p:nvSpPr>
        <p:spPr/>
        <p:txBody>
          <a:bodyPr/>
          <a:lstStyle/>
          <a:p>
            <a:r>
              <a:rPr lang="en-US" dirty="0"/>
              <a:t>Research Objectives</a:t>
            </a:r>
            <a:endParaRPr lang="en-KE" dirty="0"/>
          </a:p>
        </p:txBody>
      </p:sp>
      <p:sp>
        <p:nvSpPr>
          <p:cNvPr id="3" name="Content Placeholder 2">
            <a:extLst>
              <a:ext uri="{FF2B5EF4-FFF2-40B4-BE49-F238E27FC236}">
                <a16:creationId xmlns:a16="http://schemas.microsoft.com/office/drawing/2014/main" id="{C96D9E6E-5722-4AD7-8715-3EBADC252AB9}"/>
              </a:ext>
            </a:extLst>
          </p:cNvPr>
          <p:cNvSpPr>
            <a:spLocks noGrp="1"/>
          </p:cNvSpPr>
          <p:nvPr>
            <p:ph idx="1"/>
          </p:nvPr>
        </p:nvSpPr>
        <p:spPr/>
        <p:txBody>
          <a:bodyPr>
            <a:normAutofit fontScale="85000" lnSpcReduction="10000"/>
          </a:bodyPr>
          <a:lstStyle/>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The overall goals or aims of your research project.</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Characteristics: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 Specific</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 Measurable</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 Achievable</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 Realistic</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 Time-bound (SMART)</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Examples in IT:</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 To assess the impact of cybersecurity policies on small businesses.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 To evaluate the performance of machine learning algorithms in predicting network intrusions.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 </a:t>
            </a:r>
            <a:endParaRPr lang="en-KE"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
        <p:nvSpPr>
          <p:cNvPr id="4" name="Footer Placeholder 3">
            <a:extLst>
              <a:ext uri="{FF2B5EF4-FFF2-40B4-BE49-F238E27FC236}">
                <a16:creationId xmlns:a16="http://schemas.microsoft.com/office/drawing/2014/main" id="{94CAE1E5-01C1-471C-A0A3-CB7DA95149AC}"/>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1052722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AC874-9033-45EE-B338-3922BFCF33FE}"/>
              </a:ext>
            </a:extLst>
          </p:cNvPr>
          <p:cNvSpPr>
            <a:spLocks noGrp="1"/>
          </p:cNvSpPr>
          <p:nvPr>
            <p:ph type="title"/>
          </p:nvPr>
        </p:nvSpPr>
        <p:spPr/>
        <p:txBody>
          <a:bodyPr/>
          <a:lstStyle/>
          <a:p>
            <a:r>
              <a:rPr lang="en-US" dirty="0"/>
              <a:t>Type of Research Objectives</a:t>
            </a:r>
            <a:endParaRPr lang="en-KE" dirty="0"/>
          </a:p>
        </p:txBody>
      </p:sp>
      <p:sp>
        <p:nvSpPr>
          <p:cNvPr id="3" name="Content Placeholder 2">
            <a:extLst>
              <a:ext uri="{FF2B5EF4-FFF2-40B4-BE49-F238E27FC236}">
                <a16:creationId xmlns:a16="http://schemas.microsoft.com/office/drawing/2014/main" id="{81B3BCFF-886B-43AB-89F2-F2A583A96276}"/>
              </a:ext>
            </a:extLst>
          </p:cNvPr>
          <p:cNvSpPr>
            <a:spLocks noGrp="1"/>
          </p:cNvSpPr>
          <p:nvPr>
            <p:ph idx="1"/>
          </p:nvPr>
        </p:nvSpPr>
        <p:spPr/>
        <p:txBody>
          <a:bodyPr/>
          <a:lstStyle/>
          <a:p>
            <a:pPr marL="0" indent="0">
              <a:buNone/>
            </a:pPr>
            <a:r>
              <a:rPr lang="en-US" dirty="0"/>
              <a:t>General Objectives:</a:t>
            </a:r>
            <a:endParaRPr lang="en-KE" dirty="0"/>
          </a:p>
          <a:p>
            <a:r>
              <a:rPr lang="en-US" dirty="0"/>
              <a:t>  - Broad goals that outline the major purpose of the research.</a:t>
            </a:r>
            <a:endParaRPr lang="en-KE" dirty="0"/>
          </a:p>
          <a:p>
            <a:r>
              <a:rPr lang="en-US" dirty="0"/>
              <a:t>  - Example: To explore trends in IoT adoption among retail businesses.</a:t>
            </a:r>
            <a:endParaRPr lang="en-KE" dirty="0"/>
          </a:p>
          <a:p>
            <a:pPr marL="0" indent="0">
              <a:buNone/>
            </a:pPr>
            <a:r>
              <a:rPr lang="en-US" dirty="0"/>
              <a:t>Specific Objectives:</a:t>
            </a:r>
            <a:endParaRPr lang="en-KE" dirty="0"/>
          </a:p>
          <a:p>
            <a:r>
              <a:rPr lang="en-US" dirty="0"/>
              <a:t>  - Narrower goals that outline precise tasks or sub-goals within the research.</a:t>
            </a:r>
            <a:endParaRPr lang="en-KE" dirty="0"/>
          </a:p>
          <a:p>
            <a:r>
              <a:rPr lang="en-US" dirty="0"/>
              <a:t>  - Example: To determine the main factors affecting IoT security adoption in retail.</a:t>
            </a:r>
            <a:endParaRPr lang="en-KE" dirty="0"/>
          </a:p>
          <a:p>
            <a:endParaRPr lang="en-KE" dirty="0"/>
          </a:p>
        </p:txBody>
      </p:sp>
      <p:sp>
        <p:nvSpPr>
          <p:cNvPr id="4" name="Footer Placeholder 3">
            <a:extLst>
              <a:ext uri="{FF2B5EF4-FFF2-40B4-BE49-F238E27FC236}">
                <a16:creationId xmlns:a16="http://schemas.microsoft.com/office/drawing/2014/main" id="{3ADC48BB-D918-4CBF-83F4-2D495B647675}"/>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708371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Helpful terms for objectives</a:t>
            </a:r>
          </a:p>
        </p:txBody>
      </p:sp>
      <p:sp>
        <p:nvSpPr>
          <p:cNvPr id="3" name="Content Placeholder 2"/>
          <p:cNvSpPr>
            <a:spLocks noGrp="1"/>
          </p:cNvSpPr>
          <p:nvPr>
            <p:ph idx="1"/>
          </p:nvPr>
        </p:nvSpPr>
        <p:spPr>
          <a:xfrm>
            <a:off x="677334" y="2160589"/>
            <a:ext cx="2427816" cy="3880773"/>
          </a:xfrm>
        </p:spPr>
        <p:txBody>
          <a:bodyPr/>
          <a:lstStyle/>
          <a:p>
            <a:r>
              <a:rPr lang="en-US" dirty="0"/>
              <a:t>Identify</a:t>
            </a:r>
          </a:p>
          <a:p>
            <a:r>
              <a:rPr lang="en-US" dirty="0"/>
              <a:t>Investigate</a:t>
            </a:r>
          </a:p>
          <a:p>
            <a:r>
              <a:rPr lang="en-US" dirty="0"/>
              <a:t>Examine</a:t>
            </a:r>
          </a:p>
          <a:p>
            <a:r>
              <a:rPr lang="en-US" dirty="0"/>
              <a:t>Suggest</a:t>
            </a:r>
          </a:p>
          <a:p>
            <a:r>
              <a:rPr lang="en-US" dirty="0"/>
              <a:t>Determine</a:t>
            </a:r>
          </a:p>
          <a:p>
            <a:r>
              <a:rPr lang="en-US" dirty="0"/>
              <a:t>Evaluate</a:t>
            </a:r>
          </a:p>
          <a:p>
            <a:r>
              <a:rPr lang="en-US" dirty="0"/>
              <a:t>Develop</a:t>
            </a:r>
          </a:p>
          <a:p>
            <a:r>
              <a:rPr lang="en-US" dirty="0"/>
              <a:t>Assess</a:t>
            </a:r>
          </a:p>
          <a:p>
            <a:endParaRPr lang="en-US" dirty="0"/>
          </a:p>
        </p:txBody>
      </p:sp>
      <p:sp>
        <p:nvSpPr>
          <p:cNvPr id="4" name="TextBox 3">
            <a:extLst>
              <a:ext uri="{FF2B5EF4-FFF2-40B4-BE49-F238E27FC236}">
                <a16:creationId xmlns:a16="http://schemas.microsoft.com/office/drawing/2014/main" id="{09633ECC-98B9-4E83-B9B1-DBD4E1484F0E}"/>
              </a:ext>
            </a:extLst>
          </p:cNvPr>
          <p:cNvSpPr txBox="1"/>
          <p:nvPr/>
        </p:nvSpPr>
        <p:spPr>
          <a:xfrm>
            <a:off x="4191000" y="2114550"/>
            <a:ext cx="4905375" cy="4247317"/>
          </a:xfrm>
          <a:prstGeom prst="rect">
            <a:avLst/>
          </a:prstGeom>
          <a:noFill/>
        </p:spPr>
        <p:txBody>
          <a:bodyPr wrap="square" rtlCol="0">
            <a:spAutoFit/>
          </a:bodyPr>
          <a:lstStyle/>
          <a:p>
            <a:pPr fontAlgn="base"/>
            <a:r>
              <a:rPr lang="en-US" dirty="0">
                <a:solidFill>
                  <a:srgbClr val="444444"/>
                </a:solidFill>
                <a:latin typeface="Open Sans"/>
              </a:rPr>
              <a:t>Objectives must always be set after having formulated a good </a:t>
            </a:r>
            <a:r>
              <a:rPr lang="en-US" dirty="0">
                <a:solidFill>
                  <a:srgbClr val="21759B"/>
                </a:solidFill>
                <a:latin typeface="Open Sans"/>
                <a:hlinkClick r:id="rId2" tooltip="How to turn your research idea into a research question">
                  <a:extLst>
                    <a:ext uri="{A12FA001-AC4F-418D-AE19-62706E023703}">
                      <ahyp:hlinkClr xmlns:ahyp="http://schemas.microsoft.com/office/drawing/2018/hyperlinkcolor" val="tx"/>
                    </a:ext>
                  </a:extLst>
                </a:hlinkClick>
              </a:rPr>
              <a:t>research question</a:t>
            </a:r>
            <a:r>
              <a:rPr lang="en-US" dirty="0">
                <a:solidFill>
                  <a:srgbClr val="444444"/>
                </a:solidFill>
                <a:latin typeface="Open Sans"/>
              </a:rPr>
              <a:t>. they are to explain the way in which such question is going to be answered. Objectives are usually headed by infinitive verbs such as:</a:t>
            </a:r>
          </a:p>
          <a:p>
            <a:pPr fontAlgn="base">
              <a:buFont typeface="Arial" panose="020B0604020202020204" pitchFamily="34" charset="0"/>
              <a:buChar char="•"/>
            </a:pPr>
            <a:r>
              <a:rPr lang="en-US" dirty="0">
                <a:solidFill>
                  <a:srgbClr val="444444"/>
                </a:solidFill>
                <a:latin typeface="Open Sans"/>
              </a:rPr>
              <a:t>To identify</a:t>
            </a:r>
          </a:p>
          <a:p>
            <a:pPr fontAlgn="base">
              <a:buFont typeface="Arial" panose="020B0604020202020204" pitchFamily="34" charset="0"/>
              <a:buChar char="•"/>
            </a:pPr>
            <a:r>
              <a:rPr lang="en-US" dirty="0">
                <a:solidFill>
                  <a:srgbClr val="444444"/>
                </a:solidFill>
                <a:latin typeface="Open Sans"/>
              </a:rPr>
              <a:t>To establish</a:t>
            </a:r>
          </a:p>
          <a:p>
            <a:pPr fontAlgn="base">
              <a:buFont typeface="Arial" panose="020B0604020202020204" pitchFamily="34" charset="0"/>
              <a:buChar char="•"/>
            </a:pPr>
            <a:r>
              <a:rPr lang="en-US" dirty="0">
                <a:solidFill>
                  <a:srgbClr val="444444"/>
                </a:solidFill>
                <a:latin typeface="Open Sans"/>
              </a:rPr>
              <a:t>To describe</a:t>
            </a:r>
          </a:p>
          <a:p>
            <a:pPr fontAlgn="base">
              <a:buFont typeface="Arial" panose="020B0604020202020204" pitchFamily="34" charset="0"/>
              <a:buChar char="•"/>
            </a:pPr>
            <a:r>
              <a:rPr lang="en-US" dirty="0">
                <a:solidFill>
                  <a:srgbClr val="444444"/>
                </a:solidFill>
                <a:latin typeface="Open Sans"/>
              </a:rPr>
              <a:t>To determine</a:t>
            </a:r>
          </a:p>
          <a:p>
            <a:pPr fontAlgn="base">
              <a:buFont typeface="Arial" panose="020B0604020202020204" pitchFamily="34" charset="0"/>
              <a:buChar char="•"/>
            </a:pPr>
            <a:r>
              <a:rPr lang="en-US" dirty="0">
                <a:solidFill>
                  <a:srgbClr val="444444"/>
                </a:solidFill>
                <a:latin typeface="Open Sans"/>
              </a:rPr>
              <a:t>To estimate</a:t>
            </a:r>
          </a:p>
          <a:p>
            <a:pPr fontAlgn="base">
              <a:buFont typeface="Arial" panose="020B0604020202020204" pitchFamily="34" charset="0"/>
              <a:buChar char="•"/>
            </a:pPr>
            <a:r>
              <a:rPr lang="en-US" dirty="0">
                <a:solidFill>
                  <a:srgbClr val="444444"/>
                </a:solidFill>
                <a:latin typeface="Open Sans"/>
              </a:rPr>
              <a:t>To develop</a:t>
            </a:r>
          </a:p>
          <a:p>
            <a:pPr fontAlgn="base">
              <a:buFont typeface="Arial" panose="020B0604020202020204" pitchFamily="34" charset="0"/>
              <a:buChar char="•"/>
            </a:pPr>
            <a:r>
              <a:rPr lang="en-US" dirty="0">
                <a:solidFill>
                  <a:srgbClr val="444444"/>
                </a:solidFill>
                <a:latin typeface="Open Sans"/>
              </a:rPr>
              <a:t>To compare</a:t>
            </a:r>
          </a:p>
          <a:p>
            <a:pPr fontAlgn="base">
              <a:buFont typeface="Arial" panose="020B0604020202020204" pitchFamily="34" charset="0"/>
              <a:buChar char="•"/>
            </a:pPr>
            <a:r>
              <a:rPr lang="en-US" dirty="0">
                <a:solidFill>
                  <a:srgbClr val="444444"/>
                </a:solidFill>
                <a:latin typeface="Open Sans"/>
              </a:rPr>
              <a:t>To </a:t>
            </a:r>
            <a:r>
              <a:rPr lang="en-US" dirty="0" err="1">
                <a:solidFill>
                  <a:srgbClr val="444444"/>
                </a:solidFill>
                <a:latin typeface="Open Sans"/>
              </a:rPr>
              <a:t>analyse</a:t>
            </a:r>
            <a:endParaRPr lang="en-US" dirty="0">
              <a:solidFill>
                <a:srgbClr val="444444"/>
              </a:solidFill>
              <a:latin typeface="Open Sans"/>
            </a:endParaRPr>
          </a:p>
          <a:p>
            <a:pPr fontAlgn="base">
              <a:buFont typeface="Arial" panose="020B0604020202020204" pitchFamily="34" charset="0"/>
              <a:buChar char="•"/>
            </a:pPr>
            <a:r>
              <a:rPr lang="en-US" dirty="0">
                <a:solidFill>
                  <a:srgbClr val="444444"/>
                </a:solidFill>
                <a:latin typeface="Open Sans"/>
              </a:rPr>
              <a:t>To collect</a:t>
            </a:r>
          </a:p>
          <a:p>
            <a:pPr fontAlgn="base">
              <a:buFont typeface="Arial" panose="020B0604020202020204" pitchFamily="34" charset="0"/>
              <a:buChar char="•"/>
            </a:pPr>
            <a:r>
              <a:rPr lang="en-US" dirty="0">
                <a:solidFill>
                  <a:srgbClr val="444444"/>
                </a:solidFill>
                <a:latin typeface="Open Sans"/>
              </a:rPr>
              <a:t>…</a:t>
            </a:r>
          </a:p>
        </p:txBody>
      </p:sp>
      <p:sp>
        <p:nvSpPr>
          <p:cNvPr id="5" name="Footer Placeholder 4">
            <a:extLst>
              <a:ext uri="{FF2B5EF4-FFF2-40B4-BE49-F238E27FC236}">
                <a16:creationId xmlns:a16="http://schemas.microsoft.com/office/drawing/2014/main" id="{31AEC8E0-959A-4E47-82D1-9155179C69A4}"/>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3096788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6302B-6668-4F11-88BF-74C3A9BD08BE}"/>
              </a:ext>
            </a:extLst>
          </p:cNvPr>
          <p:cNvSpPr>
            <a:spLocks noGrp="1"/>
          </p:cNvSpPr>
          <p:nvPr>
            <p:ph type="title"/>
          </p:nvPr>
        </p:nvSpPr>
        <p:spPr/>
        <p:txBody>
          <a:bodyPr/>
          <a:lstStyle/>
          <a:p>
            <a:r>
              <a:rPr lang="en-US" dirty="0"/>
              <a:t>Formulate a research question</a:t>
            </a:r>
            <a:endParaRPr lang="en-KE" dirty="0"/>
          </a:p>
        </p:txBody>
      </p:sp>
      <p:sp>
        <p:nvSpPr>
          <p:cNvPr id="3" name="Content Placeholder 2">
            <a:extLst>
              <a:ext uri="{FF2B5EF4-FFF2-40B4-BE49-F238E27FC236}">
                <a16:creationId xmlns:a16="http://schemas.microsoft.com/office/drawing/2014/main" id="{CC9141F7-5FDF-4073-8990-55FB21D9511A}"/>
              </a:ext>
            </a:extLst>
          </p:cNvPr>
          <p:cNvSpPr>
            <a:spLocks noGrp="1"/>
          </p:cNvSpPr>
          <p:nvPr>
            <p:ph idx="1"/>
          </p:nvPr>
        </p:nvSpPr>
        <p:spPr/>
        <p:txBody>
          <a:bodyPr>
            <a:normAutofit/>
          </a:bodyPr>
          <a:lstStyle/>
          <a:p>
            <a:pPr fontAlgn="base"/>
            <a:r>
              <a:rPr lang="en-US" dirty="0"/>
              <a:t>Once you find a research idea it is time to turn such idea into a research question. </a:t>
            </a:r>
          </a:p>
          <a:p>
            <a:pPr fontAlgn="base"/>
            <a:r>
              <a:rPr lang="en-US" dirty="0">
                <a:solidFill>
                  <a:srgbClr val="000000"/>
                </a:solidFill>
                <a:latin typeface="Roboto"/>
              </a:rPr>
              <a:t>Once you have settled on a topic, some questions about it will likely spring to mind immediately. The central question that you wish to answer in your paper is your research question</a:t>
            </a:r>
            <a:endParaRPr lang="en-US" dirty="0"/>
          </a:p>
          <a:p>
            <a:pPr fontAlgn="base"/>
            <a:r>
              <a:rPr lang="en-US" dirty="0"/>
              <a:t>The research question is likely to change over the rest of the research process but now you just need to formulate the question that flows from your research idea. Generally, these questions are headed by an interrogative particle such as what, why or how. Choosing one or another is not trivial. </a:t>
            </a:r>
          </a:p>
          <a:p>
            <a:pPr fontAlgn="base"/>
            <a:r>
              <a:rPr lang="en-US" dirty="0">
                <a:solidFill>
                  <a:srgbClr val="202124"/>
                </a:solidFill>
                <a:latin typeface="Google Sans"/>
              </a:rPr>
              <a:t>typically, the research question is included </a:t>
            </a:r>
            <a:r>
              <a:rPr lang="en-US" dirty="0">
                <a:solidFill>
                  <a:srgbClr val="040C28"/>
                </a:solidFill>
                <a:latin typeface="Google Sans"/>
              </a:rPr>
              <a:t>at the end of the Introduction section</a:t>
            </a:r>
            <a:r>
              <a:rPr lang="en-US" dirty="0">
                <a:solidFill>
                  <a:srgbClr val="202124"/>
                </a:solidFill>
                <a:latin typeface="Google Sans"/>
              </a:rPr>
              <a:t>.</a:t>
            </a:r>
            <a:endParaRPr lang="en-KE" dirty="0"/>
          </a:p>
        </p:txBody>
      </p:sp>
      <p:sp>
        <p:nvSpPr>
          <p:cNvPr id="4" name="Footer Placeholder 3">
            <a:extLst>
              <a:ext uri="{FF2B5EF4-FFF2-40B4-BE49-F238E27FC236}">
                <a16:creationId xmlns:a16="http://schemas.microsoft.com/office/drawing/2014/main" id="{6FB37143-8491-43CC-BB5C-05FB299BD10E}"/>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1738671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Research Questions</a:t>
            </a:r>
          </a:p>
        </p:txBody>
      </p:sp>
      <p:sp>
        <p:nvSpPr>
          <p:cNvPr id="3" name="Content Placeholder 2"/>
          <p:cNvSpPr>
            <a:spLocks noGrp="1"/>
          </p:cNvSpPr>
          <p:nvPr>
            <p:ph idx="1"/>
          </p:nvPr>
        </p:nvSpPr>
        <p:spPr/>
        <p:txBody>
          <a:bodyPr/>
          <a:lstStyle/>
          <a:p>
            <a:r>
              <a:rPr lang="en-US"/>
              <a:t>These are issues that the researcher seeks to answer.</a:t>
            </a:r>
          </a:p>
          <a:p>
            <a:r>
              <a:rPr lang="en-US"/>
              <a:t>They are related to the research objectives</a:t>
            </a:r>
          </a:p>
          <a:p>
            <a:r>
              <a:rPr lang="en-US"/>
              <a:t>These questions guide the research process by addressing the variables of the study.</a:t>
            </a:r>
          </a:p>
        </p:txBody>
      </p:sp>
      <p:sp>
        <p:nvSpPr>
          <p:cNvPr id="4" name="Footer Placeholder 3">
            <a:extLst>
              <a:ext uri="{FF2B5EF4-FFF2-40B4-BE49-F238E27FC236}">
                <a16:creationId xmlns:a16="http://schemas.microsoft.com/office/drawing/2014/main" id="{2D5E2BF2-67A8-43CA-B400-570462F3E913}"/>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3205981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EFB1E-11CF-4BF3-BD9B-7108F4EC5C99}"/>
              </a:ext>
            </a:extLst>
          </p:cNvPr>
          <p:cNvSpPr>
            <a:spLocks noGrp="1"/>
          </p:cNvSpPr>
          <p:nvPr>
            <p:ph type="title"/>
          </p:nvPr>
        </p:nvSpPr>
        <p:spPr/>
        <p:txBody>
          <a:bodyPr/>
          <a:lstStyle/>
          <a:p>
            <a:r>
              <a:rPr lang="en-US" dirty="0"/>
              <a:t>Research Question</a:t>
            </a:r>
            <a:endParaRPr lang="en-KE" dirty="0"/>
          </a:p>
        </p:txBody>
      </p:sp>
      <p:sp>
        <p:nvSpPr>
          <p:cNvPr id="3" name="Content Placeholder 2">
            <a:extLst>
              <a:ext uri="{FF2B5EF4-FFF2-40B4-BE49-F238E27FC236}">
                <a16:creationId xmlns:a16="http://schemas.microsoft.com/office/drawing/2014/main" id="{7F0DAB1D-0C37-43CF-B0C2-E339367D023B}"/>
              </a:ext>
            </a:extLst>
          </p:cNvPr>
          <p:cNvSpPr>
            <a:spLocks noGrp="1"/>
          </p:cNvSpPr>
          <p:nvPr>
            <p:ph idx="1"/>
          </p:nvPr>
        </p:nvSpPr>
        <p:spPr/>
        <p:txBody>
          <a:bodyPr>
            <a:normAutofit/>
          </a:bodyPr>
          <a:lstStyle/>
          <a:p>
            <a:r>
              <a:rPr lang="en-US" dirty="0"/>
              <a:t>A </a:t>
            </a:r>
            <a:r>
              <a:rPr lang="en-US" b="1" dirty="0"/>
              <a:t>research question</a:t>
            </a:r>
            <a:r>
              <a:rPr lang="en-US" dirty="0"/>
              <a:t> is a specific, clear, and focused inquiry that a study aims to address. It defines the problem or issue that the research is attempting to explore, and guides the direction of the investigation. In essence, it pinpoints what the researcher wants to know or understand through the study. The research question is crucial because it frames the scope and goals of the research, helping to determine what data needs to be collected and how it will be analyzed.</a:t>
            </a:r>
          </a:p>
          <a:p>
            <a:endParaRPr lang="en-KE" dirty="0"/>
          </a:p>
        </p:txBody>
      </p:sp>
      <p:sp>
        <p:nvSpPr>
          <p:cNvPr id="4" name="Footer Placeholder 3">
            <a:extLst>
              <a:ext uri="{FF2B5EF4-FFF2-40B4-BE49-F238E27FC236}">
                <a16:creationId xmlns:a16="http://schemas.microsoft.com/office/drawing/2014/main" id="{66B24C99-90B6-4129-A7AA-58168378EBE0}"/>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1716500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EFB1E-11CF-4BF3-BD9B-7108F4EC5C99}"/>
              </a:ext>
            </a:extLst>
          </p:cNvPr>
          <p:cNvSpPr>
            <a:spLocks noGrp="1"/>
          </p:cNvSpPr>
          <p:nvPr>
            <p:ph type="title"/>
          </p:nvPr>
        </p:nvSpPr>
        <p:spPr/>
        <p:txBody>
          <a:bodyPr>
            <a:normAutofit fontScale="90000"/>
          </a:bodyPr>
          <a:lstStyle/>
          <a:p>
            <a:r>
              <a:rPr lang="en-US" b="1" dirty="0"/>
              <a:t>Characteristics of a Good Research Question</a:t>
            </a:r>
            <a:br>
              <a:rPr lang="en-US" b="1" dirty="0"/>
            </a:br>
            <a:endParaRPr lang="en-KE" dirty="0"/>
          </a:p>
        </p:txBody>
      </p:sp>
      <p:sp>
        <p:nvSpPr>
          <p:cNvPr id="3" name="Content Placeholder 2">
            <a:extLst>
              <a:ext uri="{FF2B5EF4-FFF2-40B4-BE49-F238E27FC236}">
                <a16:creationId xmlns:a16="http://schemas.microsoft.com/office/drawing/2014/main" id="{7F0DAB1D-0C37-43CF-B0C2-E339367D023B}"/>
              </a:ext>
            </a:extLst>
          </p:cNvPr>
          <p:cNvSpPr>
            <a:spLocks noGrp="1"/>
          </p:cNvSpPr>
          <p:nvPr>
            <p:ph idx="1"/>
          </p:nvPr>
        </p:nvSpPr>
        <p:spPr/>
        <p:txBody>
          <a:bodyPr>
            <a:normAutofit fontScale="92500"/>
          </a:bodyPr>
          <a:lstStyle/>
          <a:p>
            <a:pPr>
              <a:buFont typeface="Arial" panose="020B0604020202020204" pitchFamily="34" charset="0"/>
              <a:buChar char="•"/>
            </a:pPr>
            <a:r>
              <a:rPr lang="en-US" b="1" dirty="0"/>
              <a:t>Specific</a:t>
            </a:r>
            <a:r>
              <a:rPr lang="en-US" dirty="0"/>
              <a:t>: Narrowly focused rather than broad or vague.</a:t>
            </a:r>
          </a:p>
          <a:p>
            <a:pPr>
              <a:buFont typeface="Arial" panose="020B0604020202020204" pitchFamily="34" charset="0"/>
              <a:buChar char="•"/>
            </a:pPr>
            <a:r>
              <a:rPr lang="en-US" b="1" dirty="0"/>
              <a:t>Clear</a:t>
            </a:r>
            <a:r>
              <a:rPr lang="en-US" dirty="0"/>
              <a:t>: Easily understandable, avoiding ambiguity or complex wording.</a:t>
            </a:r>
          </a:p>
          <a:p>
            <a:pPr>
              <a:buFont typeface="Arial" panose="020B0604020202020204" pitchFamily="34" charset="0"/>
              <a:buChar char="•"/>
            </a:pPr>
            <a:r>
              <a:rPr lang="en-US" b="1" dirty="0"/>
              <a:t>Researchable</a:t>
            </a:r>
            <a:r>
              <a:rPr lang="en-US" dirty="0"/>
              <a:t>: It should be possible to answer the question through empirical investigation or analysis.</a:t>
            </a:r>
          </a:p>
          <a:p>
            <a:pPr>
              <a:buFont typeface="Arial" panose="020B0604020202020204" pitchFamily="34" charset="0"/>
              <a:buChar char="•"/>
            </a:pPr>
            <a:r>
              <a:rPr lang="en-US" b="1" dirty="0"/>
              <a:t>Relevant</a:t>
            </a:r>
            <a:r>
              <a:rPr lang="en-US" dirty="0"/>
              <a:t>: Related to the field of study and aligned with the research objectives.</a:t>
            </a:r>
          </a:p>
          <a:p>
            <a:pPr marL="0" indent="0">
              <a:buNone/>
            </a:pPr>
            <a:r>
              <a:rPr lang="en-US" b="1" dirty="0"/>
              <a:t>Example of a Research Question for an IT Research Topic:</a:t>
            </a:r>
          </a:p>
          <a:p>
            <a:pPr marL="0" indent="0">
              <a:buNone/>
            </a:pPr>
            <a:r>
              <a:rPr lang="en-US" b="1" dirty="0"/>
              <a:t>Topic: Cybersecurity in cloud computing</a:t>
            </a:r>
            <a:r>
              <a:rPr lang="en-US" dirty="0"/>
              <a:t>.</a:t>
            </a:r>
          </a:p>
          <a:p>
            <a:pPr marL="0" indent="0">
              <a:buNone/>
            </a:pPr>
            <a:r>
              <a:rPr lang="en-US" b="1" dirty="0"/>
              <a:t>Research Question:</a:t>
            </a:r>
          </a:p>
          <a:p>
            <a:r>
              <a:rPr lang="en-US" i="1" dirty="0"/>
              <a:t>"How does the implementation of multi-factor authentication (MFA) affect the security of cloud-based applications in small and medium enterprises (SMEs)?"</a:t>
            </a:r>
            <a:endParaRPr lang="en-US" dirty="0"/>
          </a:p>
          <a:p>
            <a:endParaRPr lang="en-KE" dirty="0"/>
          </a:p>
        </p:txBody>
      </p:sp>
      <p:sp>
        <p:nvSpPr>
          <p:cNvPr id="4" name="Footer Placeholder 3">
            <a:extLst>
              <a:ext uri="{FF2B5EF4-FFF2-40B4-BE49-F238E27FC236}">
                <a16:creationId xmlns:a16="http://schemas.microsoft.com/office/drawing/2014/main" id="{7383A5D3-7A1F-42C3-AFE1-DE9B54381202}"/>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4026672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13AF5-14DE-430C-9D6B-704004C22AC2}"/>
              </a:ext>
            </a:extLst>
          </p:cNvPr>
          <p:cNvSpPr>
            <a:spLocks noGrp="1"/>
          </p:cNvSpPr>
          <p:nvPr>
            <p:ph type="title"/>
          </p:nvPr>
        </p:nvSpPr>
        <p:spPr/>
        <p:txBody>
          <a:bodyPr/>
          <a:lstStyle/>
          <a:p>
            <a:r>
              <a:rPr lang="en-US" dirty="0"/>
              <a:t>Developing a good research question</a:t>
            </a:r>
            <a:endParaRPr lang="en-KE" dirty="0"/>
          </a:p>
        </p:txBody>
      </p:sp>
      <p:sp>
        <p:nvSpPr>
          <p:cNvPr id="3" name="Content Placeholder 2">
            <a:extLst>
              <a:ext uri="{FF2B5EF4-FFF2-40B4-BE49-F238E27FC236}">
                <a16:creationId xmlns:a16="http://schemas.microsoft.com/office/drawing/2014/main" id="{57ED7E1C-69EA-46A5-80B6-D10D0F2B7F2C}"/>
              </a:ext>
            </a:extLst>
          </p:cNvPr>
          <p:cNvSpPr>
            <a:spLocks noGrp="1"/>
          </p:cNvSpPr>
          <p:nvPr>
            <p:ph idx="1"/>
          </p:nvPr>
        </p:nvSpPr>
        <p:spPr/>
        <p:txBody>
          <a:bodyPr/>
          <a:lstStyle/>
          <a:p>
            <a:pPr marL="0" indent="0">
              <a:buNone/>
            </a:pPr>
            <a:r>
              <a:rPr lang="en-US" dirty="0"/>
              <a:t>Tips:</a:t>
            </a:r>
            <a:endParaRPr lang="en-KE" dirty="0"/>
          </a:p>
          <a:p>
            <a:r>
              <a:rPr lang="en-US" dirty="0"/>
              <a:t>  - Ensure clarity and focus on a specific aspect of the problem.</a:t>
            </a:r>
            <a:endParaRPr lang="en-KE" dirty="0"/>
          </a:p>
          <a:p>
            <a:r>
              <a:rPr lang="en-US" dirty="0"/>
              <a:t>  - Must be feasible within the research timeframe.</a:t>
            </a:r>
            <a:endParaRPr lang="en-KE" dirty="0"/>
          </a:p>
          <a:p>
            <a:r>
              <a:rPr lang="en-US" dirty="0"/>
              <a:t>  - Should be aligned with the research objectives.</a:t>
            </a:r>
            <a:endParaRPr lang="en-KE" dirty="0"/>
          </a:p>
          <a:p>
            <a:endParaRPr lang="en-KE" dirty="0"/>
          </a:p>
        </p:txBody>
      </p:sp>
      <p:sp>
        <p:nvSpPr>
          <p:cNvPr id="4" name="Footer Placeholder 3">
            <a:extLst>
              <a:ext uri="{FF2B5EF4-FFF2-40B4-BE49-F238E27FC236}">
                <a16:creationId xmlns:a16="http://schemas.microsoft.com/office/drawing/2014/main" id="{66188A51-CCD3-449E-89F0-6D18C75238F9}"/>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464801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1F7E8-1B52-4ADF-85EF-06EC0A0BD798}"/>
              </a:ext>
            </a:extLst>
          </p:cNvPr>
          <p:cNvSpPr>
            <a:spLocks noGrp="1"/>
          </p:cNvSpPr>
          <p:nvPr>
            <p:ph type="title"/>
          </p:nvPr>
        </p:nvSpPr>
        <p:spPr/>
        <p:txBody>
          <a:bodyPr/>
          <a:lstStyle/>
          <a:p>
            <a:r>
              <a:rPr lang="en-US" dirty="0"/>
              <a:t>Research Questions</a:t>
            </a:r>
            <a:endParaRPr lang="en-KE" dirty="0"/>
          </a:p>
        </p:txBody>
      </p:sp>
      <p:sp>
        <p:nvSpPr>
          <p:cNvPr id="3" name="Content Placeholder 2">
            <a:extLst>
              <a:ext uri="{FF2B5EF4-FFF2-40B4-BE49-F238E27FC236}">
                <a16:creationId xmlns:a16="http://schemas.microsoft.com/office/drawing/2014/main" id="{8721CFC9-CD7C-4BDB-A2BE-34F14D90EB6A}"/>
              </a:ext>
            </a:extLst>
          </p:cNvPr>
          <p:cNvSpPr>
            <a:spLocks noGrp="1"/>
          </p:cNvSpPr>
          <p:nvPr>
            <p:ph idx="1"/>
          </p:nvPr>
        </p:nvSpPr>
        <p:spPr/>
        <p:txBody>
          <a:bodyPr/>
          <a:lstStyle/>
          <a:p>
            <a:r>
              <a:rPr lang="en-US" dirty="0"/>
              <a:t>Terms to use:</a:t>
            </a:r>
          </a:p>
          <a:p>
            <a:pPr lvl="1"/>
            <a:r>
              <a:rPr lang="en-US" dirty="0"/>
              <a:t>What</a:t>
            </a:r>
          </a:p>
          <a:p>
            <a:pPr lvl="1"/>
            <a:r>
              <a:rPr lang="en-US" dirty="0"/>
              <a:t>How </a:t>
            </a:r>
          </a:p>
          <a:p>
            <a:pPr lvl="1"/>
            <a:r>
              <a:rPr lang="en-US" dirty="0"/>
              <a:t>Where</a:t>
            </a:r>
          </a:p>
          <a:p>
            <a:pPr lvl="1"/>
            <a:r>
              <a:rPr lang="en-US" dirty="0"/>
              <a:t>Does</a:t>
            </a:r>
          </a:p>
          <a:p>
            <a:pPr marL="457200" lvl="1" indent="0">
              <a:buNone/>
            </a:pPr>
            <a:endParaRPr lang="en-KE" dirty="0"/>
          </a:p>
        </p:txBody>
      </p:sp>
      <p:sp>
        <p:nvSpPr>
          <p:cNvPr id="4" name="Footer Placeholder 3">
            <a:extLst>
              <a:ext uri="{FF2B5EF4-FFF2-40B4-BE49-F238E27FC236}">
                <a16:creationId xmlns:a16="http://schemas.microsoft.com/office/drawing/2014/main" id="{5003C22B-8F03-4917-8FF2-92FAB72FBD92}"/>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473252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a:t>
            </a:r>
          </a:p>
        </p:txBody>
      </p:sp>
      <p:sp>
        <p:nvSpPr>
          <p:cNvPr id="3" name="Content Placeholder 2"/>
          <p:cNvSpPr>
            <a:spLocks noGrp="1"/>
          </p:cNvSpPr>
          <p:nvPr>
            <p:ph idx="1"/>
          </p:nvPr>
        </p:nvSpPr>
        <p:spPr/>
        <p:txBody>
          <a:bodyPr>
            <a:normAutofit fontScale="92500" lnSpcReduction="20000"/>
          </a:bodyPr>
          <a:lstStyle/>
          <a:p>
            <a:r>
              <a:rPr lang="en-US" dirty="0"/>
              <a:t>Variable is derived from variations (differences)</a:t>
            </a:r>
          </a:p>
          <a:p>
            <a:r>
              <a:rPr lang="en-US" dirty="0"/>
              <a:t>Variables are attributes or qualities of the cases that we measure or record</a:t>
            </a:r>
          </a:p>
          <a:p>
            <a:r>
              <a:rPr lang="en-US" dirty="0"/>
              <a:t>2 major types of variables:</a:t>
            </a:r>
          </a:p>
          <a:p>
            <a:pPr lvl="1"/>
            <a:r>
              <a:rPr lang="en-US" dirty="0"/>
              <a:t>Independent and</a:t>
            </a:r>
          </a:p>
          <a:p>
            <a:pPr lvl="1"/>
            <a:r>
              <a:rPr lang="en-US" dirty="0"/>
              <a:t>Dependent</a:t>
            </a:r>
          </a:p>
          <a:p>
            <a:pPr lvl="1"/>
            <a:endParaRPr lang="en-US" dirty="0"/>
          </a:p>
          <a:p>
            <a:pPr marL="457200" lvl="1" indent="0">
              <a:buNone/>
            </a:pPr>
            <a:r>
              <a:rPr lang="en-US" b="1" dirty="0"/>
              <a:t>Others (ref Oladipo et al General Research methods)</a:t>
            </a:r>
          </a:p>
          <a:p>
            <a:pPr lvl="1">
              <a:buFont typeface="Wingdings" panose="05000000000000000000" pitchFamily="2" charset="2"/>
              <a:buChar char="§"/>
            </a:pPr>
            <a:r>
              <a:rPr lang="en-US" dirty="0"/>
              <a:t>Extraneous-may influence the study without the researcher being aware (</a:t>
            </a:r>
            <a:r>
              <a:rPr lang="en-US" dirty="0" err="1"/>
              <a:t>eg.</a:t>
            </a:r>
            <a:r>
              <a:rPr lang="en-US" dirty="0"/>
              <a:t>  training) – try to capture this where possible</a:t>
            </a:r>
          </a:p>
          <a:p>
            <a:pPr lvl="1">
              <a:buFont typeface="Wingdings" panose="05000000000000000000" pitchFamily="2" charset="2"/>
              <a:buChar char="§"/>
            </a:pPr>
            <a:r>
              <a:rPr lang="en-US" dirty="0"/>
              <a:t>Intervening- explain the relationship between the independent and dependent variable </a:t>
            </a:r>
            <a:r>
              <a:rPr lang="en-US" dirty="0" err="1"/>
              <a:t>eg.</a:t>
            </a:r>
            <a:r>
              <a:rPr lang="en-US" dirty="0"/>
              <a:t> Level of education) – indicate it as an intervening variable</a:t>
            </a:r>
          </a:p>
          <a:p>
            <a:pPr lvl="1">
              <a:buFont typeface="Wingdings" panose="05000000000000000000" pitchFamily="2" charset="2"/>
              <a:buChar char="§"/>
            </a:pPr>
            <a:r>
              <a:rPr lang="en-US" dirty="0"/>
              <a:t>Control-one that is constant throughout the study but does not affect the relationship between the variables under study</a:t>
            </a:r>
          </a:p>
        </p:txBody>
      </p:sp>
    </p:spTree>
    <p:extLst>
      <p:ext uri="{BB962C8B-B14F-4D97-AF65-F5344CB8AC3E}">
        <p14:creationId xmlns:p14="http://schemas.microsoft.com/office/powerpoint/2010/main" val="569314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Independent variables</a:t>
            </a:r>
          </a:p>
        </p:txBody>
      </p:sp>
      <p:sp>
        <p:nvSpPr>
          <p:cNvPr id="3" name="Content Placeholder 2"/>
          <p:cNvSpPr>
            <a:spLocks noGrp="1"/>
          </p:cNvSpPr>
          <p:nvPr>
            <p:ph idx="1"/>
          </p:nvPr>
        </p:nvSpPr>
        <p:spPr/>
        <p:txBody>
          <a:bodyPr>
            <a:normAutofit/>
          </a:bodyPr>
          <a:lstStyle/>
          <a:p>
            <a:r>
              <a:rPr lang="en-US" dirty="0"/>
              <a:t>Independent Variables (IV)</a:t>
            </a:r>
          </a:p>
          <a:p>
            <a:r>
              <a:rPr lang="en-US" dirty="0"/>
              <a:t>Also known as:</a:t>
            </a:r>
          </a:p>
          <a:p>
            <a:pPr lvl="1"/>
            <a:r>
              <a:rPr lang="en-US" dirty="0"/>
              <a:t>Predictors or</a:t>
            </a:r>
          </a:p>
          <a:p>
            <a:pPr lvl="1"/>
            <a:r>
              <a:rPr lang="en-US" dirty="0"/>
              <a:t>Explanatory variables</a:t>
            </a:r>
          </a:p>
          <a:p>
            <a:pPr lvl="1"/>
            <a:endParaRPr lang="en-US" dirty="0"/>
          </a:p>
          <a:p>
            <a:pPr lvl="1"/>
            <a:r>
              <a:rPr lang="en-US" dirty="0"/>
              <a:t>These are the factors( </a:t>
            </a:r>
            <a:r>
              <a:rPr lang="en-US" dirty="0" err="1"/>
              <a:t>eg</a:t>
            </a:r>
            <a:r>
              <a:rPr lang="en-US" dirty="0"/>
              <a:t>. Literacy level, employment level, weight, gender </a:t>
            </a:r>
            <a:r>
              <a:rPr lang="en-US" dirty="0" err="1"/>
              <a:t>etc</a:t>
            </a:r>
            <a:r>
              <a:rPr lang="en-US" dirty="0"/>
              <a:t>) the researcher thinks explain the variations in the dependent variable</a:t>
            </a:r>
          </a:p>
          <a:p>
            <a:pPr lvl="1"/>
            <a:r>
              <a:rPr lang="en-US" dirty="0"/>
              <a:t>In other words these are the causes</a:t>
            </a:r>
          </a:p>
          <a:p>
            <a:pPr lvl="1"/>
            <a:r>
              <a:rPr lang="en-US" dirty="0" err="1"/>
              <a:t>Eg</a:t>
            </a:r>
            <a:r>
              <a:rPr lang="en-US" dirty="0"/>
              <a:t>. The impact of price increase on consumption of </a:t>
            </a:r>
            <a:r>
              <a:rPr lang="en-US" dirty="0" err="1"/>
              <a:t>ugali</a:t>
            </a:r>
            <a:r>
              <a:rPr lang="en-US" dirty="0"/>
              <a:t> in  Kenya</a:t>
            </a:r>
          </a:p>
        </p:txBody>
      </p:sp>
    </p:spTree>
    <p:extLst>
      <p:ext uri="{BB962C8B-B14F-4D97-AF65-F5344CB8AC3E}">
        <p14:creationId xmlns:p14="http://schemas.microsoft.com/office/powerpoint/2010/main" val="41444538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Dependent variables</a:t>
            </a:r>
          </a:p>
        </p:txBody>
      </p:sp>
      <p:sp>
        <p:nvSpPr>
          <p:cNvPr id="3" name="Content Placeholder 2"/>
          <p:cNvSpPr>
            <a:spLocks noGrp="1"/>
          </p:cNvSpPr>
          <p:nvPr>
            <p:ph idx="1"/>
          </p:nvPr>
        </p:nvSpPr>
        <p:spPr/>
        <p:txBody>
          <a:bodyPr/>
          <a:lstStyle/>
          <a:p>
            <a:r>
              <a:rPr lang="en-US" dirty="0"/>
              <a:t>Usually there is only one dependent variable</a:t>
            </a:r>
          </a:p>
          <a:p>
            <a:r>
              <a:rPr lang="en-US" dirty="0"/>
              <a:t>And it is the outcome variable the researcher is attempting to predict</a:t>
            </a:r>
          </a:p>
        </p:txBody>
      </p:sp>
    </p:spTree>
    <p:extLst>
      <p:ext uri="{BB962C8B-B14F-4D97-AF65-F5344CB8AC3E}">
        <p14:creationId xmlns:p14="http://schemas.microsoft.com/office/powerpoint/2010/main" val="3609723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971800" y="609600"/>
            <a:ext cx="7302500" cy="990600"/>
          </a:xfrm>
          <a:extLst>
            <a:ext uri="{909E8E84-426E-40DD-AFC4-6F175D3DCCD1}">
              <a14:hiddenFill xmlns:a14="http://schemas.microsoft.com/office/drawing/2010/main">
                <a:solidFill>
                  <a:schemeClr val="folHlink"/>
                </a:solidFill>
              </a14:hiddenFill>
            </a:ext>
          </a:extLst>
        </p:spPr>
        <p:txBody>
          <a:bodyPr>
            <a:normAutofit fontScale="90000"/>
          </a:bodyPr>
          <a:lstStyle/>
          <a:p>
            <a:pPr eaLnBrk="1" hangingPunct="1">
              <a:defRPr/>
            </a:pPr>
            <a:r>
              <a:rPr lang="en-US" altLang="en-US" sz="3200" b="1">
                <a:effectLst>
                  <a:outerShdw blurRad="38100" dist="38100" dir="2700000" algn="tl">
                    <a:srgbClr val="C0C0C0"/>
                  </a:outerShdw>
                </a:effectLst>
              </a:rPr>
              <a:t>Independent and Dependent Variables</a:t>
            </a:r>
          </a:p>
        </p:txBody>
      </p:sp>
      <p:sp>
        <p:nvSpPr>
          <p:cNvPr id="17411" name="Rectangle 3"/>
          <p:cNvSpPr>
            <a:spLocks noGrp="1" noChangeArrowheads="1"/>
          </p:cNvSpPr>
          <p:nvPr>
            <p:ph sz="half" idx="1"/>
          </p:nvPr>
        </p:nvSpPr>
        <p:spPr>
          <a:xfrm>
            <a:off x="2333625" y="2214564"/>
            <a:ext cx="3900488" cy="3881437"/>
          </a:xfrm>
        </p:spPr>
        <p:txBody>
          <a:bodyPr/>
          <a:lstStyle/>
          <a:p>
            <a:pPr eaLnBrk="1" hangingPunct="1"/>
            <a:r>
              <a:rPr lang="en-US" altLang="en-US" sz="2200">
                <a:cs typeface="Arial" panose="020B0604020202020204" pitchFamily="34" charset="0"/>
              </a:rPr>
              <a:t>independent variable is what is manipulated</a:t>
            </a:r>
          </a:p>
          <a:p>
            <a:pPr eaLnBrk="1" hangingPunct="1"/>
            <a:endParaRPr lang="en-US" altLang="en-US" sz="2200">
              <a:cs typeface="Arial" panose="020B0604020202020204" pitchFamily="34" charset="0"/>
            </a:endParaRPr>
          </a:p>
          <a:p>
            <a:pPr eaLnBrk="1" hangingPunct="1"/>
            <a:r>
              <a:rPr lang="en-US" altLang="en-US" sz="2200">
                <a:cs typeface="Arial" panose="020B0604020202020204" pitchFamily="34" charset="0"/>
              </a:rPr>
              <a:t>a treatment or program or cause</a:t>
            </a:r>
          </a:p>
          <a:p>
            <a:pPr eaLnBrk="1" hangingPunct="1"/>
            <a:endParaRPr lang="en-US" altLang="en-US" sz="2200"/>
          </a:p>
          <a:p>
            <a:pPr eaLnBrk="1" hangingPunct="1"/>
            <a:r>
              <a:rPr lang="en-US" altLang="en-US" sz="2200"/>
              <a:t>‘Factor’</a:t>
            </a:r>
          </a:p>
        </p:txBody>
      </p:sp>
      <p:sp>
        <p:nvSpPr>
          <p:cNvPr id="17412" name="Rectangle 4"/>
          <p:cNvSpPr>
            <a:spLocks noGrp="1" noChangeArrowheads="1"/>
          </p:cNvSpPr>
          <p:nvPr>
            <p:ph sz="half" idx="2"/>
          </p:nvPr>
        </p:nvSpPr>
        <p:spPr>
          <a:xfrm>
            <a:off x="6391275" y="2214564"/>
            <a:ext cx="3900488" cy="3881437"/>
          </a:xfrm>
        </p:spPr>
        <p:txBody>
          <a:bodyPr/>
          <a:lstStyle/>
          <a:p>
            <a:pPr eaLnBrk="1" hangingPunct="1"/>
            <a:r>
              <a:rPr lang="en-US" altLang="en-US" sz="2200">
                <a:cs typeface="Arial" panose="020B0604020202020204" pitchFamily="34" charset="0"/>
              </a:rPr>
              <a:t>dependent variable is what is affected by the independent variable</a:t>
            </a:r>
          </a:p>
          <a:p>
            <a:pPr eaLnBrk="1" hangingPunct="1"/>
            <a:endParaRPr lang="en-US" altLang="en-US" sz="2200">
              <a:cs typeface="Arial" panose="020B0604020202020204" pitchFamily="34" charset="0"/>
            </a:endParaRPr>
          </a:p>
          <a:p>
            <a:pPr eaLnBrk="1" hangingPunct="1"/>
            <a:r>
              <a:rPr lang="en-US" altLang="en-US" sz="2200">
                <a:cs typeface="Arial" panose="020B0604020202020204" pitchFamily="34" charset="0"/>
              </a:rPr>
              <a:t>effects or outcomes</a:t>
            </a:r>
            <a:endParaRPr lang="en-US" altLang="en-US" sz="2200"/>
          </a:p>
          <a:p>
            <a:pPr eaLnBrk="1" hangingPunct="1"/>
            <a:endParaRPr lang="en-US" altLang="en-US" sz="2200"/>
          </a:p>
          <a:p>
            <a:pPr eaLnBrk="1" hangingPunct="1"/>
            <a:r>
              <a:rPr lang="en-US" altLang="en-US" sz="2200"/>
              <a:t>‘Measure’</a:t>
            </a:r>
          </a:p>
        </p:txBody>
      </p:sp>
    </p:spTree>
    <p:extLst>
      <p:ext uri="{BB962C8B-B14F-4D97-AF65-F5344CB8AC3E}">
        <p14:creationId xmlns:p14="http://schemas.microsoft.com/office/powerpoint/2010/main" val="1312361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pPr marL="0" indent="0">
              <a:buNone/>
            </a:pPr>
            <a:r>
              <a:rPr lang="en-US" dirty="0"/>
              <a:t>See attached file: Examples of research topics in IT</a:t>
            </a:r>
          </a:p>
        </p:txBody>
      </p:sp>
    </p:spTree>
    <p:extLst>
      <p:ext uri="{BB962C8B-B14F-4D97-AF65-F5344CB8AC3E}">
        <p14:creationId xmlns:p14="http://schemas.microsoft.com/office/powerpoint/2010/main" val="3264717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Research Hypothesis</a:t>
            </a:r>
          </a:p>
        </p:txBody>
      </p:sp>
      <p:sp>
        <p:nvSpPr>
          <p:cNvPr id="3" name="Content Placeholder 2"/>
          <p:cNvSpPr>
            <a:spLocks noGrp="1"/>
          </p:cNvSpPr>
          <p:nvPr>
            <p:ph idx="1"/>
          </p:nvPr>
        </p:nvSpPr>
        <p:spPr/>
        <p:txBody>
          <a:bodyPr/>
          <a:lstStyle/>
          <a:p>
            <a:endParaRPr lang="en-US" dirty="0"/>
          </a:p>
          <a:p>
            <a:pPr marL="0" indent="0">
              <a:buNone/>
            </a:pPr>
            <a:r>
              <a:rPr lang="en-US" dirty="0"/>
              <a:t>Hypothesis is a working conclusion or temporary conclusion formed from background of the study and review of the literature existing. (</a:t>
            </a:r>
            <a:r>
              <a:rPr lang="en-US" b="1" dirty="0"/>
              <a:t>Ref: Research Methods, </a:t>
            </a:r>
            <a:r>
              <a:rPr lang="en-US" b="1" dirty="0" err="1"/>
              <a:t>Wekesa</a:t>
            </a:r>
            <a:r>
              <a:rPr lang="en-US" b="1" dirty="0"/>
              <a:t> M, 2025)</a:t>
            </a:r>
          </a:p>
          <a:p>
            <a:r>
              <a:rPr lang="en-US" dirty="0"/>
              <a:t>Hypothesis is a guess or assumption</a:t>
            </a:r>
          </a:p>
          <a:p>
            <a:r>
              <a:rPr lang="en-US" dirty="0"/>
              <a:t>Tentative explanation for certain behavior patterns</a:t>
            </a:r>
          </a:p>
          <a:p>
            <a:r>
              <a:rPr lang="en-US" dirty="0"/>
              <a:t>A possible explanation of the relationship between two or more variables</a:t>
            </a:r>
          </a:p>
          <a:p>
            <a:r>
              <a:rPr lang="en-US" dirty="0"/>
              <a:t>It is a systematic and pre-determined thought based on scientific process.</a:t>
            </a:r>
          </a:p>
          <a:p>
            <a:r>
              <a:rPr lang="en-US" dirty="0" err="1"/>
              <a:t>Hyphothesis</a:t>
            </a:r>
            <a:r>
              <a:rPr lang="en-US" dirty="0"/>
              <a:t> is a proposition which can be put to test to determine  its validity</a:t>
            </a:r>
          </a:p>
        </p:txBody>
      </p:sp>
      <p:sp>
        <p:nvSpPr>
          <p:cNvPr id="4" name="Footer Placeholder 3">
            <a:extLst>
              <a:ext uri="{FF2B5EF4-FFF2-40B4-BE49-F238E27FC236}">
                <a16:creationId xmlns:a16="http://schemas.microsoft.com/office/drawing/2014/main" id="{7B7E3EA9-2073-48D3-B5E6-82116C3031F9}"/>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4218805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30A8C-ABB6-48A0-82F4-62157B82E72F}"/>
              </a:ext>
            </a:extLst>
          </p:cNvPr>
          <p:cNvSpPr>
            <a:spLocks noGrp="1"/>
          </p:cNvSpPr>
          <p:nvPr>
            <p:ph type="title"/>
          </p:nvPr>
        </p:nvSpPr>
        <p:spPr/>
        <p:txBody>
          <a:bodyPr/>
          <a:lstStyle/>
          <a:p>
            <a:r>
              <a:rPr lang="en-US" dirty="0"/>
              <a:t>Hypothesis</a:t>
            </a:r>
            <a:endParaRPr lang="en-KE" dirty="0"/>
          </a:p>
        </p:txBody>
      </p:sp>
      <p:sp>
        <p:nvSpPr>
          <p:cNvPr id="3" name="Content Placeholder 2">
            <a:extLst>
              <a:ext uri="{FF2B5EF4-FFF2-40B4-BE49-F238E27FC236}">
                <a16:creationId xmlns:a16="http://schemas.microsoft.com/office/drawing/2014/main" id="{92DB6C0C-C043-446A-8C2C-3549061D896C}"/>
              </a:ext>
            </a:extLst>
          </p:cNvPr>
          <p:cNvSpPr>
            <a:spLocks noGrp="1"/>
          </p:cNvSpPr>
          <p:nvPr>
            <p:ph idx="1"/>
          </p:nvPr>
        </p:nvSpPr>
        <p:spPr/>
        <p:txBody>
          <a:bodyPr/>
          <a:lstStyle/>
          <a:p>
            <a:pPr marL="0" indent="0">
              <a:buNone/>
            </a:pPr>
            <a:r>
              <a:rPr lang="en-US" dirty="0"/>
              <a:t>Definition: A testable prediction based on theory or previous studies.</a:t>
            </a:r>
            <a:endParaRPr lang="en-KE" dirty="0"/>
          </a:p>
          <a:p>
            <a:pPr marL="0" indent="0">
              <a:buNone/>
            </a:pPr>
            <a:r>
              <a:rPr lang="en-US" dirty="0"/>
              <a:t>Types:</a:t>
            </a:r>
            <a:endParaRPr lang="en-KE" dirty="0"/>
          </a:p>
          <a:p>
            <a:r>
              <a:rPr lang="en-US" dirty="0"/>
              <a:t>  Null Hypothesis (H0): No effect or relationship.</a:t>
            </a:r>
            <a:endParaRPr lang="en-KE" dirty="0"/>
          </a:p>
          <a:p>
            <a:r>
              <a:rPr lang="en-US" dirty="0"/>
              <a:t>  Alternative Hypothesis (H1): Predicts an effect or relationship.</a:t>
            </a:r>
            <a:endParaRPr lang="en-KE" dirty="0"/>
          </a:p>
          <a:p>
            <a:pPr marL="0" marR="0" indent="0">
              <a:lnSpc>
                <a:spcPct val="107000"/>
              </a:lnSpc>
              <a:spcBef>
                <a:spcPts val="0"/>
              </a:spcBef>
              <a:spcAft>
                <a:spcPts val="800"/>
              </a:spcAft>
              <a:buNone/>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Examples in IT:</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 Null Hypothesis: "The use of AI does not significantly improve the accuracy of fraud detection systems."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 Alternative Hypothesis: "The use of AI significantly improves the accuracy of fraud detection systems."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KE" dirty="0"/>
          </a:p>
        </p:txBody>
      </p:sp>
      <p:sp>
        <p:nvSpPr>
          <p:cNvPr id="4" name="Footer Placeholder 3">
            <a:extLst>
              <a:ext uri="{FF2B5EF4-FFF2-40B4-BE49-F238E27FC236}">
                <a16:creationId xmlns:a16="http://schemas.microsoft.com/office/drawing/2014/main" id="{3F2EEB40-CC1D-4D14-B0C8-8ECCCD4BAEBD}"/>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30487063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Hypothesis (details in the next lesson)</a:t>
            </a:r>
          </a:p>
        </p:txBody>
      </p:sp>
      <p:sp>
        <p:nvSpPr>
          <p:cNvPr id="3" name="Content Placeholder 2"/>
          <p:cNvSpPr>
            <a:spLocks noGrp="1"/>
          </p:cNvSpPr>
          <p:nvPr>
            <p:ph idx="1"/>
          </p:nvPr>
        </p:nvSpPr>
        <p:spPr/>
        <p:txBody>
          <a:bodyPr>
            <a:normAutofit fontScale="92500" lnSpcReduction="20000"/>
          </a:bodyPr>
          <a:lstStyle/>
          <a:p>
            <a:r>
              <a:rPr lang="en-US" dirty="0"/>
              <a:t>Hypothesis have been classified by a number of authors in various ways</a:t>
            </a:r>
          </a:p>
          <a:p>
            <a:r>
              <a:rPr lang="en-US" dirty="0"/>
              <a:t>Kombo and Tromp in book </a:t>
            </a:r>
            <a:r>
              <a:rPr lang="en-US" i="1" dirty="0"/>
              <a:t>Proposal and Thesis Writing</a:t>
            </a:r>
            <a:r>
              <a:rPr lang="en-US" dirty="0"/>
              <a:t> </a:t>
            </a:r>
          </a:p>
          <a:p>
            <a:pPr lvl="1"/>
            <a:r>
              <a:rPr lang="en-US" dirty="0"/>
              <a:t>Conceptual Research</a:t>
            </a:r>
          </a:p>
          <a:p>
            <a:pPr lvl="1"/>
            <a:r>
              <a:rPr lang="en-US" dirty="0"/>
              <a:t>Research Hypothesis</a:t>
            </a:r>
          </a:p>
          <a:p>
            <a:pPr lvl="1"/>
            <a:r>
              <a:rPr lang="en-US" dirty="0"/>
              <a:t>Statistical Hypothesis</a:t>
            </a:r>
          </a:p>
          <a:p>
            <a:pPr lvl="1"/>
            <a:endParaRPr lang="en-US" dirty="0"/>
          </a:p>
          <a:p>
            <a:r>
              <a:rPr lang="en-US" dirty="0"/>
              <a:t>John </a:t>
            </a:r>
            <a:r>
              <a:rPr lang="en-US" dirty="0" err="1"/>
              <a:t>Gaultang</a:t>
            </a:r>
            <a:r>
              <a:rPr lang="en-US" dirty="0"/>
              <a:t> in the book </a:t>
            </a:r>
            <a:r>
              <a:rPr lang="en-US" i="1" dirty="0"/>
              <a:t>Their and Methods of Social research </a:t>
            </a:r>
            <a:r>
              <a:rPr lang="en-US" dirty="0"/>
              <a:t>have used:</a:t>
            </a:r>
          </a:p>
          <a:p>
            <a:pPr lvl="1"/>
            <a:r>
              <a:rPr lang="en-US" dirty="0"/>
              <a:t>Research Hypothesis</a:t>
            </a:r>
          </a:p>
          <a:p>
            <a:pPr lvl="1"/>
            <a:r>
              <a:rPr lang="en-US" dirty="0"/>
              <a:t>Statistical Hypothesis</a:t>
            </a:r>
          </a:p>
          <a:p>
            <a:r>
              <a:rPr lang="en-US" dirty="0"/>
              <a:t>Famous hypothesis :</a:t>
            </a:r>
          </a:p>
          <a:p>
            <a:pPr lvl="1"/>
            <a:r>
              <a:rPr lang="en-US" dirty="0"/>
              <a:t>Null Hypothesis</a:t>
            </a:r>
          </a:p>
          <a:p>
            <a:pPr lvl="1"/>
            <a:r>
              <a:rPr lang="en-US" dirty="0"/>
              <a:t>Alternative Hypothesis</a:t>
            </a:r>
          </a:p>
          <a:p>
            <a:pPr lvl="1"/>
            <a:endParaRPr lang="en-US" dirty="0"/>
          </a:p>
        </p:txBody>
      </p:sp>
      <p:sp>
        <p:nvSpPr>
          <p:cNvPr id="4" name="Footer Placeholder 3">
            <a:extLst>
              <a:ext uri="{FF2B5EF4-FFF2-40B4-BE49-F238E27FC236}">
                <a16:creationId xmlns:a16="http://schemas.microsoft.com/office/drawing/2014/main" id="{DE3A88A2-E488-4805-9C63-22BBBDFC5965}"/>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8046818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Importance of  hypothesis</a:t>
            </a:r>
          </a:p>
        </p:txBody>
      </p:sp>
      <p:sp>
        <p:nvSpPr>
          <p:cNvPr id="3" name="Content Placeholder 2"/>
          <p:cNvSpPr>
            <a:spLocks noGrp="1"/>
          </p:cNvSpPr>
          <p:nvPr>
            <p:ph idx="1"/>
          </p:nvPr>
        </p:nvSpPr>
        <p:spPr/>
        <p:txBody>
          <a:bodyPr/>
          <a:lstStyle/>
          <a:p>
            <a:r>
              <a:rPr lang="en-US"/>
              <a:t>It states the researcher’s expectations concerning the relationship between the variables in the research problem.</a:t>
            </a:r>
          </a:p>
          <a:p>
            <a:r>
              <a:rPr lang="en-US"/>
              <a:t>The hypothesis refines the research problem</a:t>
            </a:r>
          </a:p>
          <a:p>
            <a:r>
              <a:rPr lang="en-US"/>
              <a:t>By defining the variable in the study, the hypothesis enables the researcher to collect data that either supports the hypothesis or rejects the hypothesis</a:t>
            </a:r>
          </a:p>
          <a:p>
            <a:r>
              <a:rPr lang="en-US"/>
              <a:t>It is applicable in both quantitative and qualitative research.</a:t>
            </a:r>
          </a:p>
          <a:p>
            <a:r>
              <a:rPr lang="en-US"/>
              <a:t>Applicable when the researcher intends to show a relationship between independent and dependent variables.</a:t>
            </a:r>
          </a:p>
        </p:txBody>
      </p:sp>
      <p:sp>
        <p:nvSpPr>
          <p:cNvPr id="4" name="Footer Placeholder 3">
            <a:extLst>
              <a:ext uri="{FF2B5EF4-FFF2-40B4-BE49-F238E27FC236}">
                <a16:creationId xmlns:a16="http://schemas.microsoft.com/office/drawing/2014/main" id="{4CBB5C03-70F2-4EDA-A33E-E00256B4AC75}"/>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28049532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847DC-FD27-4C74-AE7E-32D8C7624677}"/>
              </a:ext>
            </a:extLst>
          </p:cNvPr>
          <p:cNvSpPr>
            <a:spLocks noGrp="1"/>
          </p:cNvSpPr>
          <p:nvPr>
            <p:ph type="title"/>
          </p:nvPr>
        </p:nvSpPr>
        <p:spPr/>
        <p:txBody>
          <a:bodyPr/>
          <a:lstStyle/>
          <a:p>
            <a:r>
              <a:rPr lang="en-US" dirty="0"/>
              <a:t>Role of Hypothesis in IT Research</a:t>
            </a:r>
            <a:endParaRPr lang="en-KE" dirty="0"/>
          </a:p>
        </p:txBody>
      </p:sp>
      <p:sp>
        <p:nvSpPr>
          <p:cNvPr id="3" name="Content Placeholder 2">
            <a:extLst>
              <a:ext uri="{FF2B5EF4-FFF2-40B4-BE49-F238E27FC236}">
                <a16:creationId xmlns:a16="http://schemas.microsoft.com/office/drawing/2014/main" id="{7B455018-5B3D-4740-91AD-21CDC0A1A18C}"/>
              </a:ext>
            </a:extLst>
          </p:cNvPr>
          <p:cNvSpPr>
            <a:spLocks noGrp="1"/>
          </p:cNvSpPr>
          <p:nvPr>
            <p:ph idx="1"/>
          </p:nvPr>
        </p:nvSpPr>
        <p:spPr/>
        <p:txBody>
          <a:bodyPr/>
          <a:lstStyle/>
          <a:p>
            <a:pPr>
              <a:buFont typeface="Arial" panose="020B0604020202020204" pitchFamily="34" charset="0"/>
              <a:buChar char="•"/>
            </a:pPr>
            <a:r>
              <a:rPr lang="en-US" dirty="0"/>
              <a:t>Hypotheses provide direction to experiments or analyses.</a:t>
            </a:r>
          </a:p>
          <a:p>
            <a:pPr>
              <a:buFont typeface="Arial" panose="020B0604020202020204" pitchFamily="34" charset="0"/>
              <a:buChar char="•"/>
            </a:pPr>
            <a:r>
              <a:rPr lang="en-US" dirty="0"/>
              <a:t>They help in establishing cause-effect relationships in technology implementations.</a:t>
            </a:r>
          </a:p>
          <a:p>
            <a:pPr>
              <a:buFont typeface="Arial" panose="020B0604020202020204" pitchFamily="34" charset="0"/>
              <a:buChar char="•"/>
            </a:pPr>
            <a:r>
              <a:rPr lang="en-US" dirty="0"/>
              <a:t>Hypotheses are essential in quantitative research, where testing and validation of predictions are crucial.</a:t>
            </a:r>
          </a:p>
          <a:p>
            <a:endParaRPr lang="en-KE" dirty="0"/>
          </a:p>
        </p:txBody>
      </p:sp>
      <p:sp>
        <p:nvSpPr>
          <p:cNvPr id="4" name="Footer Placeholder 3">
            <a:extLst>
              <a:ext uri="{FF2B5EF4-FFF2-40B4-BE49-F238E27FC236}">
                <a16:creationId xmlns:a16="http://schemas.microsoft.com/office/drawing/2014/main" id="{4358CAF5-FD50-4FEB-AC7C-DA438B6E29B8}"/>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3747796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F8133-FA32-4086-8162-553B591E4A58}"/>
              </a:ext>
            </a:extLst>
          </p:cNvPr>
          <p:cNvSpPr>
            <a:spLocks noGrp="1"/>
          </p:cNvSpPr>
          <p:nvPr>
            <p:ph type="title"/>
          </p:nvPr>
        </p:nvSpPr>
        <p:spPr/>
        <p:txBody>
          <a:bodyPr>
            <a:normAutofit fontScale="90000"/>
          </a:bodyPr>
          <a:lstStyle/>
          <a:p>
            <a:r>
              <a:rPr lang="en-US" dirty="0">
                <a:latin typeface="Calibri" panose="020F0502020204030204" pitchFamily="34" charset="0"/>
                <a:ea typeface="Calibri" panose="020F0502020204030204" pitchFamily="34" charset="0"/>
                <a:cs typeface="Times New Roman" panose="02020603050405020304" pitchFamily="18" charset="0"/>
              </a:rPr>
              <a:t>:Linking Objectives, Questions, and Hypotheses</a:t>
            </a:r>
            <a:br>
              <a:rPr lang="en-KE" dirty="0">
                <a:latin typeface="Calibri" panose="020F0502020204030204" pitchFamily="34" charset="0"/>
                <a:ea typeface="Calibri" panose="020F0502020204030204" pitchFamily="34" charset="0"/>
                <a:cs typeface="Times New Roman" panose="02020603050405020304" pitchFamily="18" charset="0"/>
              </a:rPr>
            </a:br>
            <a:endParaRPr lang="en-KE" dirty="0"/>
          </a:p>
        </p:txBody>
      </p:sp>
      <p:sp>
        <p:nvSpPr>
          <p:cNvPr id="3" name="Content Placeholder 2">
            <a:extLst>
              <a:ext uri="{FF2B5EF4-FFF2-40B4-BE49-F238E27FC236}">
                <a16:creationId xmlns:a16="http://schemas.microsoft.com/office/drawing/2014/main" id="{8ED7C1D7-1EAC-4956-A591-5953B74913CD}"/>
              </a:ext>
            </a:extLst>
          </p:cNvPr>
          <p:cNvSpPr>
            <a:spLocks noGrp="1"/>
          </p:cNvSpPr>
          <p:nvPr>
            <p:ph idx="1"/>
          </p:nvPr>
        </p:nvSpPr>
        <p:spPr/>
        <p:txBody>
          <a:bodyPr>
            <a:normAutofit/>
          </a:bodyPr>
          <a:lstStyle/>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Objectives: What do you want to achieve?</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Research Questions: What do you need to answer to achieve these goals?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Hypotheses: What can you test or measure to provide answers?</a:t>
            </a: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Research Objectives: Each objective is a specific, measurable goal that contributes to the overall aim of the study. The objectives focus on understanding the current state of threat detection, identifying challenges, and proposing and testing improvements.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Research Questions: These are directly linked to the objectives and focus on the detailed aspects of what needs to be answered. The questions are narrower in scope than the objectives and guide the specific inquiries or investigations.</a:t>
            </a:r>
            <a:endParaRPr lang="en-KE"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
        <p:nvSpPr>
          <p:cNvPr id="5" name="Footer Placeholder 4">
            <a:extLst>
              <a:ext uri="{FF2B5EF4-FFF2-40B4-BE49-F238E27FC236}">
                <a16:creationId xmlns:a16="http://schemas.microsoft.com/office/drawing/2014/main" id="{3BE99F8D-DD21-485B-8B8E-77888D978B3A}"/>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21852118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D3E57-F857-464B-ADBF-FEF14D493972}"/>
              </a:ext>
            </a:extLst>
          </p:cNvPr>
          <p:cNvSpPr>
            <a:spLocks noGrp="1"/>
          </p:cNvSpPr>
          <p:nvPr>
            <p:ph type="title"/>
          </p:nvPr>
        </p:nvSpPr>
        <p:spPr>
          <a:xfrm>
            <a:off x="677334" y="609600"/>
            <a:ext cx="8596668" cy="685800"/>
          </a:xfrm>
        </p:spPr>
        <p:txBody>
          <a:bodyPr>
            <a:normAutofit/>
          </a:bodyPr>
          <a:lstStyle/>
          <a:p>
            <a:r>
              <a:rPr lang="en-US" sz="2400" dirty="0"/>
              <a:t>Example of research objectives and related questions</a:t>
            </a:r>
            <a:endParaRPr lang="en-KE" sz="2400" dirty="0"/>
          </a:p>
        </p:txBody>
      </p:sp>
      <p:sp>
        <p:nvSpPr>
          <p:cNvPr id="3" name="Content Placeholder 2">
            <a:extLst>
              <a:ext uri="{FF2B5EF4-FFF2-40B4-BE49-F238E27FC236}">
                <a16:creationId xmlns:a16="http://schemas.microsoft.com/office/drawing/2014/main" id="{67589D89-8BDE-420B-9B51-09D15B7A9A39}"/>
              </a:ext>
            </a:extLst>
          </p:cNvPr>
          <p:cNvSpPr>
            <a:spLocks noGrp="1"/>
          </p:cNvSpPr>
          <p:nvPr>
            <p:ph idx="1"/>
          </p:nvPr>
        </p:nvSpPr>
        <p:spPr>
          <a:xfrm>
            <a:off x="677334" y="1228726"/>
            <a:ext cx="8596668" cy="5467350"/>
          </a:xfrm>
        </p:spPr>
        <p:txBody>
          <a:bodyPr>
            <a:normAutofit fontScale="85000" lnSpcReduction="20000"/>
          </a:bodyPr>
          <a:lstStyle/>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Objective 1: </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To evaluate the effectiveness of current threat detection algorithms used in cloud environments.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Research Question: </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What are the strengths and limitations of existing threat detection algorithms in identifying cloud-specific attacks?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Objective 2: </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To identify the most common types of cybersecurity threats that target cloud services used by small and medium enterprises (SMEs).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Research Question: </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What are the predominant cybersecurity threats faced by SMEs using cloud computing services?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 </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Objective 3: </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To propose an enhanced, AI-driven threat detection model that improves detection rates in cloud computing environments.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-Related Research Question: </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 How can machine learning techniques be applied to improve the accuracy and speed of threat detection in cloud computing?</a:t>
            </a:r>
            <a:endParaRPr lang="en-KE"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
        <p:nvSpPr>
          <p:cNvPr id="7" name="Footer Placeholder 6">
            <a:extLst>
              <a:ext uri="{FF2B5EF4-FFF2-40B4-BE49-F238E27FC236}">
                <a16:creationId xmlns:a16="http://schemas.microsoft.com/office/drawing/2014/main" id="{D07472FA-9A65-4436-9C2E-81CB0B36E624}"/>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39526225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24548-3EA7-4D8C-8217-71EDEA547587}"/>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Times New Roman" panose="02020603050405020304" pitchFamily="18" charset="0"/>
              </a:rPr>
              <a:t>Examples of IT Research Projects</a:t>
            </a:r>
            <a:br>
              <a:rPr lang="en-KE" dirty="0">
                <a:latin typeface="Calibri" panose="020F0502020204030204" pitchFamily="34" charset="0"/>
                <a:ea typeface="Calibri" panose="020F0502020204030204" pitchFamily="34" charset="0"/>
                <a:cs typeface="Times New Roman" panose="02020603050405020304" pitchFamily="18" charset="0"/>
              </a:rPr>
            </a:br>
            <a:endParaRPr lang="en-KE" dirty="0"/>
          </a:p>
        </p:txBody>
      </p:sp>
      <p:sp>
        <p:nvSpPr>
          <p:cNvPr id="3" name="Content Placeholder 2">
            <a:extLst>
              <a:ext uri="{FF2B5EF4-FFF2-40B4-BE49-F238E27FC236}">
                <a16:creationId xmlns:a16="http://schemas.microsoft.com/office/drawing/2014/main" id="{FF084DE6-29CB-4325-8831-25C35FEB9C67}"/>
              </a:ext>
            </a:extLst>
          </p:cNvPr>
          <p:cNvSpPr>
            <a:spLocks noGrp="1"/>
          </p:cNvSpPr>
          <p:nvPr>
            <p:ph idx="1"/>
          </p:nvPr>
        </p:nvSpPr>
        <p:spPr/>
        <p:txBody>
          <a:bodyPr>
            <a:normAutofit fontScale="92500" lnSpcReduction="10000"/>
          </a:bodyPr>
          <a:lstStyle/>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Research Topic: Cybersecurity Awareness in SMEs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Objective: To evaluate the effectiveness of cybersecurity training programs.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Research Question: What are the common challenges SMEs face in cybersecurity training adoption?</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Hypothesis: SMEs with a dedicated IT team are more likely to adopt effective cybersecurity training programs.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  </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Research Topic: Cloud Storage Optimization</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-Objective: To improve the efficiency of data retrieval in cloud storage systems.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-Research Question: How can data retrieval times be reduced in cloud environments?</a:t>
            </a:r>
            <a:endParaRPr lang="en-KE"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-Hypothesis: Using indexed storage systems significantly reduces data retrieval times.</a:t>
            </a:r>
            <a:endParaRPr lang="en-KE"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
        <p:nvSpPr>
          <p:cNvPr id="4" name="Footer Placeholder 3">
            <a:extLst>
              <a:ext uri="{FF2B5EF4-FFF2-40B4-BE49-F238E27FC236}">
                <a16:creationId xmlns:a16="http://schemas.microsoft.com/office/drawing/2014/main" id="{C683D050-F604-4F65-BB73-FAD98476C472}"/>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18247890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Limitations of study</a:t>
            </a:r>
          </a:p>
        </p:txBody>
      </p:sp>
      <p:sp>
        <p:nvSpPr>
          <p:cNvPr id="3" name="Content Placeholder 2"/>
          <p:cNvSpPr>
            <a:spLocks noGrp="1"/>
          </p:cNvSpPr>
          <p:nvPr>
            <p:ph idx="1"/>
          </p:nvPr>
        </p:nvSpPr>
        <p:spPr/>
        <p:txBody>
          <a:bodyPr/>
          <a:lstStyle/>
          <a:p>
            <a:r>
              <a:rPr lang="en-US"/>
              <a:t>Challenges anticipated or faced by the researcher</a:t>
            </a:r>
          </a:p>
          <a:p>
            <a:r>
              <a:rPr lang="en-US"/>
              <a:t>Eg.</a:t>
            </a:r>
          </a:p>
          <a:p>
            <a:pPr lvl="1"/>
            <a:r>
              <a:rPr lang="en-US"/>
              <a:t>Time</a:t>
            </a:r>
          </a:p>
          <a:p>
            <a:pPr lvl="1"/>
            <a:r>
              <a:rPr lang="en-US"/>
              <a:t>Financial</a:t>
            </a:r>
          </a:p>
          <a:p>
            <a:pPr lvl="1"/>
            <a:r>
              <a:rPr lang="en-US"/>
              <a:t>Scope</a:t>
            </a:r>
          </a:p>
          <a:p>
            <a:pPr lvl="1"/>
            <a:r>
              <a:rPr lang="en-US"/>
              <a:t>Data accessibility</a:t>
            </a:r>
          </a:p>
          <a:p>
            <a:pPr lvl="1"/>
            <a:r>
              <a:rPr lang="en-US"/>
              <a:t>Unanticipated occurrences</a:t>
            </a:r>
          </a:p>
        </p:txBody>
      </p:sp>
      <p:sp>
        <p:nvSpPr>
          <p:cNvPr id="4" name="Footer Placeholder 3">
            <a:extLst>
              <a:ext uri="{FF2B5EF4-FFF2-40B4-BE49-F238E27FC236}">
                <a16:creationId xmlns:a16="http://schemas.microsoft.com/office/drawing/2014/main" id="{A67D9C85-FC77-4204-820E-D95368E5BA80}"/>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19964324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56CE4-CA45-457D-B6EB-A4DDE707990A}"/>
              </a:ext>
            </a:extLst>
          </p:cNvPr>
          <p:cNvSpPr>
            <a:spLocks noGrp="1"/>
          </p:cNvSpPr>
          <p:nvPr>
            <p:ph type="title"/>
          </p:nvPr>
        </p:nvSpPr>
        <p:spPr/>
        <p:txBody>
          <a:bodyPr/>
          <a:lstStyle/>
          <a:p>
            <a:r>
              <a:rPr lang="en-US" b="1" dirty="0"/>
              <a:t>Conclusion</a:t>
            </a:r>
            <a:br>
              <a:rPr lang="en-US" b="1" dirty="0"/>
            </a:br>
            <a:endParaRPr lang="en-KE" dirty="0"/>
          </a:p>
        </p:txBody>
      </p:sp>
      <p:sp>
        <p:nvSpPr>
          <p:cNvPr id="3" name="Content Placeholder 2">
            <a:extLst>
              <a:ext uri="{FF2B5EF4-FFF2-40B4-BE49-F238E27FC236}">
                <a16:creationId xmlns:a16="http://schemas.microsoft.com/office/drawing/2014/main" id="{D04EE118-DAB1-40A9-91BD-AA962DC29275}"/>
              </a:ext>
            </a:extLst>
          </p:cNvPr>
          <p:cNvSpPr>
            <a:spLocks noGrp="1"/>
          </p:cNvSpPr>
          <p:nvPr>
            <p:ph idx="1"/>
          </p:nvPr>
        </p:nvSpPr>
        <p:spPr/>
        <p:txBody>
          <a:bodyPr/>
          <a:lstStyle/>
          <a:p>
            <a:pPr>
              <a:buFont typeface="Arial" panose="020B0604020202020204" pitchFamily="34" charset="0"/>
              <a:buChar char="•"/>
            </a:pPr>
            <a:r>
              <a:rPr lang="en-US" b="1" dirty="0"/>
              <a:t>Summary</a:t>
            </a:r>
            <a:r>
              <a:rPr lang="en-US" dirty="0"/>
              <a:t>:</a:t>
            </a:r>
          </a:p>
          <a:p>
            <a:pPr lvl="1">
              <a:buFont typeface="Arial" panose="020B0604020202020204" pitchFamily="34" charset="0"/>
              <a:buChar char="•"/>
            </a:pPr>
            <a:r>
              <a:rPr lang="en-US" dirty="0"/>
              <a:t>Clearly defined objectives, research questions, and hypotheses are critical to research success.</a:t>
            </a:r>
          </a:p>
          <a:p>
            <a:pPr lvl="1">
              <a:buFont typeface="Arial" panose="020B0604020202020204" pitchFamily="34" charset="0"/>
              <a:buChar char="•"/>
            </a:pPr>
            <a:r>
              <a:rPr lang="en-US" dirty="0"/>
              <a:t>Aligning these elements ensures a focused and structured research process.</a:t>
            </a:r>
          </a:p>
          <a:p>
            <a:pPr marL="0" indent="0">
              <a:buNone/>
            </a:pPr>
            <a:r>
              <a:rPr lang="en-US" b="1" dirty="0"/>
              <a:t> </a:t>
            </a:r>
            <a:r>
              <a:rPr lang="en-US" dirty="0"/>
              <a:t>Formulating strong research questions and hypotheses lays the foundation for meaningful contributions in IT.</a:t>
            </a:r>
          </a:p>
          <a:p>
            <a:endParaRPr lang="en-KE" dirty="0"/>
          </a:p>
        </p:txBody>
      </p:sp>
      <p:sp>
        <p:nvSpPr>
          <p:cNvPr id="4" name="Footer Placeholder 3">
            <a:extLst>
              <a:ext uri="{FF2B5EF4-FFF2-40B4-BE49-F238E27FC236}">
                <a16:creationId xmlns:a16="http://schemas.microsoft.com/office/drawing/2014/main" id="{B2C30C36-3FE5-445D-918A-F60409FFC932}"/>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21865407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84507-4B75-4683-A786-6734D6F61B76}"/>
              </a:ext>
            </a:extLst>
          </p:cNvPr>
          <p:cNvSpPr>
            <a:spLocks noGrp="1"/>
          </p:cNvSpPr>
          <p:nvPr>
            <p:ph type="title"/>
          </p:nvPr>
        </p:nvSpPr>
        <p:spPr/>
        <p:txBody>
          <a:bodyPr/>
          <a:lstStyle/>
          <a:p>
            <a:r>
              <a:rPr lang="en-US" dirty="0"/>
              <a:t>Reference material </a:t>
            </a:r>
            <a:endParaRPr lang="en-KE" dirty="0"/>
          </a:p>
        </p:txBody>
      </p:sp>
      <p:sp>
        <p:nvSpPr>
          <p:cNvPr id="3" name="Content Placeholder 2">
            <a:extLst>
              <a:ext uri="{FF2B5EF4-FFF2-40B4-BE49-F238E27FC236}">
                <a16:creationId xmlns:a16="http://schemas.microsoft.com/office/drawing/2014/main" id="{0526CE5D-9E19-4A39-9F39-6265A43F382F}"/>
              </a:ext>
            </a:extLst>
          </p:cNvPr>
          <p:cNvSpPr>
            <a:spLocks noGrp="1"/>
          </p:cNvSpPr>
          <p:nvPr>
            <p:ph idx="1"/>
          </p:nvPr>
        </p:nvSpPr>
        <p:spPr/>
        <p:txBody>
          <a:bodyPr/>
          <a:lstStyle/>
          <a:p>
            <a:pPr marL="0" indent="0">
              <a:buNone/>
            </a:pPr>
            <a:r>
              <a:rPr lang="en-US" dirty="0"/>
              <a:t>The following are accessible on </a:t>
            </a:r>
            <a:r>
              <a:rPr lang="en-US"/>
              <a:t>eLearning platform</a:t>
            </a:r>
            <a:endParaRPr lang="en-US" dirty="0"/>
          </a:p>
          <a:p>
            <a:r>
              <a:rPr lang="en-US" dirty="0"/>
              <a:t>A beginners guide to computer science research</a:t>
            </a:r>
          </a:p>
          <a:p>
            <a:r>
              <a:rPr lang="en-US" dirty="0"/>
              <a:t>Research problem in IT</a:t>
            </a:r>
          </a:p>
          <a:p>
            <a:r>
              <a:rPr lang="en-US" dirty="0"/>
              <a:t>Example of research topics in IT</a:t>
            </a:r>
            <a:endParaRPr lang="en-KE" dirty="0"/>
          </a:p>
        </p:txBody>
      </p:sp>
      <p:sp>
        <p:nvSpPr>
          <p:cNvPr id="4" name="Footer Placeholder 3">
            <a:extLst>
              <a:ext uri="{FF2B5EF4-FFF2-40B4-BE49-F238E27FC236}">
                <a16:creationId xmlns:a16="http://schemas.microsoft.com/office/drawing/2014/main" id="{06623146-68EC-4C98-9C10-80C4246CE16D}"/>
              </a:ext>
            </a:extLst>
          </p:cNvPr>
          <p:cNvSpPr>
            <a:spLocks noGrp="1"/>
          </p:cNvSpPr>
          <p:nvPr>
            <p:ph type="ftr" sz="quarter" idx="11"/>
          </p:nvPr>
        </p:nvSpPr>
        <p:spPr/>
        <p:txBody>
          <a:bodyPr/>
          <a:lstStyle/>
          <a:p>
            <a:r>
              <a:rPr lang="en-US"/>
              <a:t>mag 2024</a:t>
            </a:r>
          </a:p>
        </p:txBody>
      </p:sp>
    </p:spTree>
    <p:extLst>
      <p:ext uri="{BB962C8B-B14F-4D97-AF65-F5344CB8AC3E}">
        <p14:creationId xmlns:p14="http://schemas.microsoft.com/office/powerpoint/2010/main" val="278274605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1091</TotalTime>
  <Words>2488</Words>
  <Application>Microsoft Office PowerPoint</Application>
  <PresentationFormat>Widescreen</PresentationFormat>
  <Paragraphs>275</Paragraphs>
  <Slides>34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Arial</vt:lpstr>
      <vt:lpstr>Calibri</vt:lpstr>
      <vt:lpstr>Google Sans</vt:lpstr>
      <vt:lpstr>Open Sans</vt:lpstr>
      <vt:lpstr>Roboto</vt:lpstr>
      <vt:lpstr>Times New Roman</vt:lpstr>
      <vt:lpstr>Trebuchet MS</vt:lpstr>
      <vt:lpstr>Wingdings</vt:lpstr>
      <vt:lpstr>Wingdings 3</vt:lpstr>
      <vt:lpstr>Facet</vt:lpstr>
      <vt:lpstr>Research Objectives-Questions,  Variables and Hypothesis</vt:lpstr>
      <vt:lpstr>Research Elements</vt:lpstr>
      <vt:lpstr>Research Problem</vt:lpstr>
      <vt:lpstr>Characteristics of a Research Problem: </vt:lpstr>
      <vt:lpstr>Steps to Formulate a Research Problem: </vt:lpstr>
      <vt:lpstr>Research Problem:  </vt:lpstr>
      <vt:lpstr>PURPOSE, and AIM IN RESEARCH</vt:lpstr>
      <vt:lpstr>Example of Purpose, Aim, and Objective in an IT Research Study: </vt:lpstr>
      <vt:lpstr>Summary of Purpose, Aim and Objectives: </vt:lpstr>
      <vt:lpstr>Research Objectives</vt:lpstr>
      <vt:lpstr>Type of Research Objectives</vt:lpstr>
      <vt:lpstr>Helpful terms for objectives</vt:lpstr>
      <vt:lpstr>Formulate a research question</vt:lpstr>
      <vt:lpstr>Research Questions</vt:lpstr>
      <vt:lpstr>Research Question</vt:lpstr>
      <vt:lpstr>Characteristics of a Good Research Question </vt:lpstr>
      <vt:lpstr>Developing a good research question</vt:lpstr>
      <vt:lpstr>Research Questions</vt:lpstr>
      <vt:lpstr>VARIABLES</vt:lpstr>
      <vt:lpstr>Independent variables</vt:lpstr>
      <vt:lpstr>Dependent variables</vt:lpstr>
      <vt:lpstr>Independent and Dependent Variables</vt:lpstr>
      <vt:lpstr>Example</vt:lpstr>
      <vt:lpstr>Research Hypothesis</vt:lpstr>
      <vt:lpstr>Hypothesis</vt:lpstr>
      <vt:lpstr>Types of Hypothesis (details in the next lesson)</vt:lpstr>
      <vt:lpstr>Importance of  hypothesis</vt:lpstr>
      <vt:lpstr>Role of Hypothesis in IT Research</vt:lpstr>
      <vt:lpstr>:Linking Objectives, Questions, and Hypotheses </vt:lpstr>
      <vt:lpstr>Example of research objectives and related questions</vt:lpstr>
      <vt:lpstr>Examples of IT Research Projects </vt:lpstr>
      <vt:lpstr>Limitations of study</vt:lpstr>
      <vt:lpstr>Conclusion </vt:lpstr>
      <vt:lpstr>Reference material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ACS101</dc:creator>
  <cp:lastModifiedBy>MyClasses</cp:lastModifiedBy>
  <cp:revision>70</cp:revision>
  <dcterms:created xsi:type="dcterms:W3CDTF">2019-02-13T00:42:38Z</dcterms:created>
  <dcterms:modified xsi:type="dcterms:W3CDTF">2025-10-14T06:05:38Z</dcterms:modified>
</cp:coreProperties>
</file>