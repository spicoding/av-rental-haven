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5" r:id="rId4"/>
    <p:sldId id="287" r:id="rId5"/>
    <p:sldId id="280" r:id="rId6"/>
    <p:sldId id="274" r:id="rId7"/>
    <p:sldId id="292" r:id="rId8"/>
    <p:sldId id="288" r:id="rId9"/>
    <p:sldId id="289" r:id="rId10"/>
    <p:sldId id="290" r:id="rId11"/>
    <p:sldId id="29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6550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4941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9740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99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1260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1718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9076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3088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6020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9263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8543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18340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3412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68986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07300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6839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53264-81B5-4993-B807-DFF528C2CEF8}" type="datetimeFigureOut">
              <a:rPr lang="en-KE" smtClean="0"/>
              <a:t>27/02/2026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902D8C-55A2-40DE-B988-2576F6901D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9980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9211-D746-4752-8021-F6F95F184C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Theoretical and Conceptual </a:t>
            </a:r>
            <a:r>
              <a:rPr lang="en-US" dirty="0"/>
              <a:t>Framework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8568E-C6B7-461E-AAB0-E5C516057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7563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17FA-8AA0-47EC-8B2A-ABC8E0612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  <a:endParaRPr lang="en-K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078E09-519A-474B-ACF2-E8A2D1A2C9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77554"/>
            <a:ext cx="8220075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framework </a:t>
            </a:r>
            <a:r>
              <a:rPr lang="en-US" altLang="en-KE" b="1" dirty="0">
                <a:latin typeface="Arial" panose="020B0604020202020204" pitchFamily="34" charset="0"/>
              </a:rPr>
              <a:t>“</a:t>
            </a:r>
            <a:r>
              <a:rPr lang="en-US" altLang="en-KE" dirty="0">
                <a:latin typeface="Arial" panose="020B0604020202020204" pitchFamily="34" charset="0"/>
              </a:rPr>
              <a:t>helps to ensure that your ideas as well as the information gathered from the research are tied together in a logical manner” </a:t>
            </a:r>
            <a:r>
              <a:rPr lang="en-US" altLang="en-KE" sz="1200" i="1" dirty="0">
                <a:latin typeface="Arial" panose="020B0604020202020204" pitchFamily="34" charset="0"/>
              </a:rPr>
              <a:t>Ref: General Research Methods by Oladipo et al 2015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lang="en-US" altLang="en-KE" b="1" dirty="0">
                <a:latin typeface="Arial" panose="020B0604020202020204" pitchFamily="34" charset="0"/>
              </a:rPr>
              <a:t> is a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approach to organize knowledge in a specific domain.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Conceptual Framework: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visual or written representation of key concepts related to an IT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Framework: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foundation of theories relevant to understanding issues in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E" altLang="en-K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24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Theoretical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collection of interrelated ideas based on theories.</a:t>
            </a:r>
          </a:p>
          <a:p>
            <a:r>
              <a:rPr lang="en-US"/>
              <a:t>It is a reasoned set or propositions which are derived from and supported by data and evidence</a:t>
            </a:r>
          </a:p>
          <a:p>
            <a:r>
              <a:rPr lang="en-US"/>
              <a:t>It attempts to clarify why things are the way they are based on theories (reasoned statement or group of statements which are supported by evidence, meant to explain phenomena).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8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120E-0099-4E69-B926-26F1C4C4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en-KE" b="1" dirty="0">
                <a:latin typeface="Arial" panose="020B0604020202020204" pitchFamily="34" charset="0"/>
              </a:rPr>
            </a:br>
            <a:r>
              <a:rPr lang="en-KE" altLang="en-KE" b="1" dirty="0">
                <a:latin typeface="Arial" panose="020B0604020202020204" pitchFamily="34" charset="0"/>
              </a:rPr>
              <a:t>Theoretical Framework:</a:t>
            </a:r>
            <a:br>
              <a:rPr lang="en-KE" altLang="en-KE" dirty="0">
                <a:latin typeface="Arial" panose="020B0604020202020204" pitchFamily="34" charset="0"/>
              </a:rPr>
            </a:br>
            <a:br>
              <a:rPr lang="en-KE" altLang="en-KE" dirty="0">
                <a:latin typeface="Arial" panose="020B0604020202020204" pitchFamily="34" charset="0"/>
              </a:rPr>
            </a:br>
            <a:endParaRPr lang="en-K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7CCB34-8D80-461F-8CEE-35FB28CEE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46858"/>
            <a:ext cx="1070113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KE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To provide a foundation of existing theories that guide research in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Characteristics: Based on established theories in computer science, information systems, or technology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KE" altLang="en-K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Technology Acceptance Model (TAM) to understand user acceptance of a new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E" altLang="en-K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Importance of theoretical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Introduces the researcher to a new view of the research problem</a:t>
            </a:r>
          </a:p>
          <a:p>
            <a:r>
              <a:rPr lang="en-US"/>
              <a:t>Enables the researcher to understand the total realm of the problem</a:t>
            </a:r>
          </a:p>
          <a:p>
            <a:r>
              <a:rPr lang="en-US"/>
              <a:t>Helps researcher to acknowledge the problem and narrow to personalized self interest approach.</a:t>
            </a:r>
          </a:p>
        </p:txBody>
      </p:sp>
    </p:spTree>
    <p:extLst>
      <p:ext uri="{BB962C8B-B14F-4D97-AF65-F5344CB8AC3E}">
        <p14:creationId xmlns:p14="http://schemas.microsoft.com/office/powerpoint/2010/main" val="215318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An abstract or general idea inferred or derived from the specific instances.</a:t>
            </a:r>
          </a:p>
          <a:p>
            <a:r>
              <a:rPr lang="en-US"/>
              <a:t>A concept is a word or phrase that symbolizes several interrelated ideas.</a:t>
            </a:r>
          </a:p>
          <a:p>
            <a:r>
              <a:rPr lang="en-US"/>
              <a:t>Unlike theory, a concept does not need to be discussed to be understood.</a:t>
            </a:r>
          </a:p>
          <a:p>
            <a:r>
              <a:rPr lang="en-US"/>
              <a:t>Conceptualizing is inventing an idea or explanation and formulating it mentally</a:t>
            </a:r>
          </a:p>
          <a:p>
            <a:r>
              <a:rPr lang="en-US"/>
              <a:t>It is a view of the world we intend to represent for some purpose</a:t>
            </a:r>
          </a:p>
          <a:p>
            <a:r>
              <a:rPr lang="en-US"/>
              <a:t>Link from literature to research goals and objectives</a:t>
            </a:r>
          </a:p>
          <a:p>
            <a:r>
              <a:rPr lang="en-US"/>
              <a:t>A link to ideas and data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9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120E-0099-4E69-B926-26F1C4C4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altLang="en-KE" b="1" dirty="0">
                <a:latin typeface="Arial" panose="020B0604020202020204" pitchFamily="34" charset="0"/>
              </a:rPr>
              <a:t>Conceptual Framework:</a:t>
            </a:r>
            <a:br>
              <a:rPr lang="en-KE" altLang="en-KE" dirty="0">
                <a:latin typeface="Arial" panose="020B0604020202020204" pitchFamily="34" charset="0"/>
              </a:rPr>
            </a:br>
            <a:endParaRPr lang="en-K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7CCB34-8D80-461F-8CEE-35FB28CEE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739139"/>
            <a:ext cx="107011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identify and visualize key concepts and relationships in IT projects.</a:t>
            </a:r>
            <a:endParaRPr kumimoji="0" lang="en-US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KE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Often diagrammatic, focusing on variables like technology adoption, user </a:t>
            </a:r>
            <a:r>
              <a:rPr kumimoji="0" lang="en-KE" altLang="en-K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system performance.</a:t>
            </a:r>
            <a:endParaRPr kumimoji="0" lang="en-US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KE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model illustrating factors influencing user acceptance of new software (e.g., perceived usefulness, ease of use, social influence).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K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E" altLang="en-K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0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429C-DA29-42B8-BDD6-2D99AF8A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altLang="en-KE" b="1" dirty="0">
                <a:latin typeface="Arial" panose="020B0604020202020204" pitchFamily="34" charset="0"/>
              </a:rPr>
              <a:t>Comparison Chart:</a:t>
            </a:r>
            <a:r>
              <a:rPr lang="en-KE" altLang="en-KE" dirty="0">
                <a:latin typeface="Arial" panose="020B0604020202020204" pitchFamily="34" charset="0"/>
              </a:rPr>
              <a:t> </a:t>
            </a:r>
            <a:br>
              <a:rPr lang="en-KE" altLang="en-KE" dirty="0">
                <a:latin typeface="Arial" panose="020B0604020202020204" pitchFamily="34" charset="0"/>
              </a:rPr>
            </a:br>
            <a:endParaRPr lang="en-K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B79193-DD64-4B7E-A786-32DE47B811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823300"/>
              </p:ext>
            </p:extLst>
          </p:nvPr>
        </p:nvGraphicFramePr>
        <p:xfrm>
          <a:off x="838200" y="299545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237488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22531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1032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Conceptual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Theoretical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618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Visual representation of concepts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Foundation of established theories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712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Defines variables and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Explains underlying theories of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44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Diagram of factors affecting system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Theory explaining technology adoption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992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4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232E-78D3-46BD-A220-FC6AA9E1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KE" dirty="0">
                <a:latin typeface="Arial" panose="020B0604020202020204" pitchFamily="34" charset="0"/>
              </a:rPr>
              <a:t>PURPOSE OF FRAMEWORKS</a:t>
            </a:r>
            <a:br>
              <a:rPr lang="en-KE" altLang="en-KE" dirty="0">
                <a:latin typeface="Arial" panose="020B0604020202020204" pitchFamily="34" charset="0"/>
              </a:rPr>
            </a:br>
            <a:endParaRPr lang="en-KE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B901-40C6-4566-A3A2-32357917D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025" y="1438275"/>
            <a:ext cx="66484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clarify research objectives and hypotheses in IT studies.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 the design and methodology of IT research.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Aid in interpreting data and drawing conclusions.</a:t>
            </a:r>
            <a:endParaRPr kumimoji="0" lang="en-US" altLang="en-K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KE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919E9-226B-415E-BD89-D4F893E2B419}"/>
              </a:ext>
            </a:extLst>
          </p:cNvPr>
          <p:cNvSpPr txBox="1"/>
          <p:nvPr/>
        </p:nvSpPr>
        <p:spPr>
          <a:xfrm>
            <a:off x="962025" y="2915345"/>
            <a:ext cx="1013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CONCEPTUAL OR THEORETICAL FRAMEWORKS</a:t>
            </a:r>
          </a:p>
          <a:p>
            <a:r>
              <a:rPr lang="en-US" sz="2800" dirty="0"/>
              <a:t>A conceptual framework cannot be refuted or tested through research.</a:t>
            </a:r>
          </a:p>
          <a:p>
            <a:r>
              <a:rPr lang="en-US" sz="2800" dirty="0"/>
              <a:t>A theoretical framework is testable and can be rejected or revised.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5CCBD-F374-40F5-AFE6-FC9A521C41B9}"/>
              </a:ext>
            </a:extLst>
          </p:cNvPr>
          <p:cNvSpPr txBox="1"/>
          <p:nvPr/>
        </p:nvSpPr>
        <p:spPr>
          <a:xfrm>
            <a:off x="1114425" y="4991100"/>
            <a:ext cx="9572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Nalzaro</a:t>
            </a:r>
            <a:r>
              <a:rPr lang="en-US" sz="2400" dirty="0"/>
              <a:t> (2012) states that a conceptual framework  represents a less formal structure and is used in studies where the existing theory is not applicable or sufficient.</a:t>
            </a:r>
            <a:endParaRPr lang="en-KE" sz="2400" dirty="0"/>
          </a:p>
        </p:txBody>
      </p:sp>
    </p:spTree>
    <p:extLst>
      <p:ext uri="{BB962C8B-B14F-4D97-AF65-F5344CB8AC3E}">
        <p14:creationId xmlns:p14="http://schemas.microsoft.com/office/powerpoint/2010/main" val="152107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78D4-A987-47BB-BA74-30D9780B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Presenting Frameworks</a:t>
            </a:r>
            <a:endParaRPr lang="en-KE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A0EB56-B4E3-4281-8495-6B01314116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0526" y="1660785"/>
            <a:ext cx="1073094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u="sng" dirty="0">
                <a:latin typeface="Arial" panose="020B0604020202020204" pitchFamily="34" charset="0"/>
              </a:rPr>
              <a:t>Class Discussion Document: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dirty="0">
                <a:latin typeface="Arial" panose="020B0604020202020204" pitchFamily="34" charset="0"/>
              </a:rPr>
              <a:t>Is the study structured around a Conceptual framework or does it rely on Theoretical Frameworks.?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K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KE" dirty="0">
                <a:latin typeface="Arial" panose="020B0604020202020204" pitchFamily="34" charset="0"/>
              </a:rPr>
              <a:t>The key difference is that a conceptual framework is more about the researcher’s own understanding and perspective, usually derived from observations or prior studies, while theoretical frameworks draws from established theories or models in the field.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K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K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K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80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A703-BBF5-40F2-844C-E21235E5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 Exercise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99E4-4226-4C2E-B5F1-2D5A3DB95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 Group Allocation</a:t>
            </a:r>
          </a:p>
          <a:p>
            <a:pPr>
              <a:buFontTx/>
              <a:buChar char="-"/>
            </a:pPr>
            <a:r>
              <a:rPr lang="en-US" dirty="0"/>
              <a:t>Review group work on topic selection: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26977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384</TotalTime>
  <Words>591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Theoretical and Conceptual Framework</vt:lpstr>
      <vt:lpstr>FRAMEWORK</vt:lpstr>
      <vt:lpstr>Theoretical Framework</vt:lpstr>
      <vt:lpstr> Theoretical Framework:  </vt:lpstr>
      <vt:lpstr>Importance of theoretical framework</vt:lpstr>
      <vt:lpstr>Conceptual framework</vt:lpstr>
      <vt:lpstr>Conceptual Framework: </vt:lpstr>
      <vt:lpstr>Comparison Chart:  </vt:lpstr>
      <vt:lpstr>PURPOSE OF FRAMEWORKS </vt:lpstr>
      <vt:lpstr>Presenting Frameworks</vt:lpstr>
      <vt:lpstr>Class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Conceptual-Theoretical framework</dc:title>
  <dc:creator>MyClasses</dc:creator>
  <cp:lastModifiedBy>MyClasses</cp:lastModifiedBy>
  <cp:revision>27</cp:revision>
  <dcterms:created xsi:type="dcterms:W3CDTF">2024-10-06T21:20:43Z</dcterms:created>
  <dcterms:modified xsi:type="dcterms:W3CDTF">2026-02-27T03:18:18Z</dcterms:modified>
</cp:coreProperties>
</file>